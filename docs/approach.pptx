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ce4bb5aba9418e" /><Relationship Type="http://schemas.openxmlformats.org/officeDocument/2006/relationships/extended-properties" Target="/docProps/app.xml" Id="R22e85d78a44746a8" /><Relationship Type="http://schemas.openxmlformats.org/officeDocument/2006/relationships/officeDocument" Target="/ppt/presentation.xml" Id="Rf63e778e38e747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a61bc17f1d451d"/>
  </p:sldMasterIdLst>
  <p:notesMasterIdLst>
    <p:notesMasterId xmlns:r="http://schemas.openxmlformats.org/officeDocument/2006/relationships" r:id="Rd93a95286bec4015"/>
  </p:notesMasterIdLst>
  <p:sldIdLst>
    <p:sldId xmlns:r="http://schemas.openxmlformats.org/officeDocument/2006/relationships" id="256" r:id="Rcf996789837b4e53"/>
    <p:sldId xmlns:r="http://schemas.openxmlformats.org/officeDocument/2006/relationships" id="257" r:id="R65feeaea93bf4945"/>
    <p:sldId xmlns:r="http://schemas.openxmlformats.org/officeDocument/2006/relationships" id="258" r:id="R8e93003e952843a3"/>
    <p:sldId xmlns:r="http://schemas.openxmlformats.org/officeDocument/2006/relationships" id="259" r:id="R8bf4d26c50fe47c8"/>
    <p:sldId xmlns:r="http://schemas.openxmlformats.org/officeDocument/2006/relationships" id="260" r:id="Rcd97c71cf1344f09"/>
    <p:sldId xmlns:r="http://schemas.openxmlformats.org/officeDocument/2006/relationships" id="261" r:id="R91e0046ea9ff4fbf"/>
    <p:sldId xmlns:r="http://schemas.openxmlformats.org/officeDocument/2006/relationships" id="262" r:id="R3693ff468cf44c89"/>
    <p:sldId xmlns:r="http://schemas.openxmlformats.org/officeDocument/2006/relationships" id="263" r:id="Rbff4e154f26a4ff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ed0e3961df4800" /><Relationship Type="http://schemas.openxmlformats.org/officeDocument/2006/relationships/slideMaster" Target="/ppt/slideMasters/slideMaster1.xml" Id="R7aa61bc17f1d451d" /><Relationship Type="http://schemas.openxmlformats.org/officeDocument/2006/relationships/notesMaster" Target="/ppt/notesMasters/notesMaster1.xml" Id="Rd93a95286bec4015" /><Relationship Type="http://schemas.openxmlformats.org/officeDocument/2006/relationships/presProps" Target="/ppt/presProps.xml" Id="Rf40d1bd1defd43ec" /><Relationship Type="http://schemas.openxmlformats.org/officeDocument/2006/relationships/tableStyles" Target="/ppt/tableStyles.xml" Id="R7f0b310273764930" /><Relationship Type="http://schemas.openxmlformats.org/officeDocument/2006/relationships/slide" Target="/ppt/slides/slide1.xml" Id="Rcf996789837b4e53" /><Relationship Type="http://schemas.openxmlformats.org/officeDocument/2006/relationships/slide" Target="/ppt/slides/slide2.xml" Id="R65feeaea93bf4945" /><Relationship Type="http://schemas.openxmlformats.org/officeDocument/2006/relationships/slide" Target="/ppt/slides/slide3.xml" Id="R8e93003e952843a3" /><Relationship Type="http://schemas.openxmlformats.org/officeDocument/2006/relationships/slide" Target="/ppt/slides/slide4.xml" Id="R8bf4d26c50fe47c8" /><Relationship Type="http://schemas.openxmlformats.org/officeDocument/2006/relationships/slide" Target="/ppt/slides/slide5.xml" Id="Rcd97c71cf1344f09" /><Relationship Type="http://schemas.openxmlformats.org/officeDocument/2006/relationships/slide" Target="/ppt/slides/slide6.xml" Id="R91e0046ea9ff4fbf" /><Relationship Type="http://schemas.openxmlformats.org/officeDocument/2006/relationships/slide" Target="/ppt/slides/slide7.xml" Id="R3693ff468cf44c89" /><Relationship Type="http://schemas.openxmlformats.org/officeDocument/2006/relationships/slide" Target="/ppt/slides/slide8.xml" Id="Rbff4e154f26a4ff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f3b1255095428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288668e24414c22" /><Relationship Type="http://schemas.openxmlformats.org/officeDocument/2006/relationships/notesMaster" Target="/ppt/notesMasters/notesMaster1.xml" Id="R4b0a75fd191a4c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f731d27a9f488f" /><Relationship Type="http://schemas.openxmlformats.org/officeDocument/2006/relationships/notesMaster" Target="/ppt/notesMasters/notesMaster1.xml" Id="Rd464794ae9484d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ffabc997034d58" /><Relationship Type="http://schemas.openxmlformats.org/officeDocument/2006/relationships/notesMaster" Target="/ppt/notesMasters/notesMaster1.xml" Id="R0b53a300df714f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956d2fa48b4744" /><Relationship Type="http://schemas.openxmlformats.org/officeDocument/2006/relationships/notesMaster" Target="/ppt/notesMasters/notesMaster1.xml" Id="Raed7e6e96543431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3353f4f800429b" /><Relationship Type="http://schemas.openxmlformats.org/officeDocument/2006/relationships/notesMaster" Target="/ppt/notesMasters/notesMaster1.xml" Id="Rd35f336c7dd744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1c1bc98ca24ed9" /><Relationship Type="http://schemas.openxmlformats.org/officeDocument/2006/relationships/notesMaster" Target="/ppt/notesMasters/notesMaster1.xml" Id="Rafda0ac999044a6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7d70f90cdd04096" /><Relationship Type="http://schemas.openxmlformats.org/officeDocument/2006/relationships/notesMaster" Target="/ppt/notesMasters/notesMaster1.xml" Id="R804a6e6bdeeb4b6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d00359c4c948ca" /><Relationship Type="http://schemas.openxmlformats.org/officeDocument/2006/relationships/notesMaster" Target="/ppt/notesMasters/notesMaster1.xml" Id="R7155f96ab04f43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0b3267aa664b9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152c4fe36843f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82ab616f40479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e246d909234f0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a1d6fe26034d9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140dfba44844e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1C9FC78-7890-4BFC-B755-3BA66A5EA3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AAD0A07-79CD-4322-9622-8DA493CEB30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5571549-CBC4-4B2F-8E88-3D917AB7C0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466B34D-DEB0-48A3-A0CB-913D8DEAC4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F5387A6-CAAE-4F73-8A42-1E152998BA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D9D4C61-411F-43D5-BA78-8A5EAFD182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E158EDF-DDDC-44D8-A983-FF91C8E09A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3CA38E5-215E-45D7-A8CA-680348AE4BB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D713F5-7F4C-44AE-83AA-02D1DCB08C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E981108-5D5F-4C8D-8C0D-2B59BB93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ecf24f202c48d8" /><Relationship Type="http://schemas.openxmlformats.org/officeDocument/2006/relationships/slideLayout" Target="/ppt/slideLayouts/slideLayout1.xml" Id="Rc461f90282774436" /><Relationship Type="http://schemas.openxmlformats.org/officeDocument/2006/relationships/slideLayout" Target="/ppt/slideLayouts/slideLayout2.xml" Id="Rf29cf1dd39a347a0" /><Relationship Type="http://schemas.openxmlformats.org/officeDocument/2006/relationships/slideLayout" Target="/ppt/slideLayouts/slideLayout3.xml" Id="R8c5addda60284fc6" /><Relationship Type="http://schemas.openxmlformats.org/officeDocument/2006/relationships/slideLayout" Target="/ppt/slideLayouts/slideLayout4.xml" Id="R568ecb63c6714045" /><Relationship Type="http://schemas.openxmlformats.org/officeDocument/2006/relationships/slideLayout" Target="/ppt/slideLayouts/slideLayout5.xml" Id="R7efe2385d9724b1a" /><Relationship Type="http://schemas.openxmlformats.org/officeDocument/2006/relationships/slideLayout" Target="/ppt/slideLayouts/slideLayout6.xml" Id="Rf1af53d0ff5e47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61f90282774436"/>
    <p:sldLayoutId xmlns:r="http://schemas.openxmlformats.org/officeDocument/2006/relationships" id="2147483650" r:id="Rf29cf1dd39a347a0"/>
    <p:sldLayoutId xmlns:r="http://schemas.openxmlformats.org/officeDocument/2006/relationships" id="2147483651" r:id="R8c5addda60284fc6"/>
    <p:sldLayoutId xmlns:r="http://schemas.openxmlformats.org/officeDocument/2006/relationships" id="2147483652" r:id="R568ecb63c6714045"/>
    <p:sldLayoutId xmlns:r="http://schemas.openxmlformats.org/officeDocument/2006/relationships" id="2147483653" r:id="R7efe2385d9724b1a"/>
    <p:sldLayoutId xmlns:r="http://schemas.openxmlformats.org/officeDocument/2006/relationships" id="2147483654" r:id="Rf1af53d0ff5e47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b5b38b061c41b4" /><Relationship Type="http://schemas.openxmlformats.org/officeDocument/2006/relationships/notesSlide" Target="/ppt/notesSlides/notesSlide1.xml" Id="R5b83c4214c574c0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dbaec383f24883" /><Relationship Type="http://schemas.openxmlformats.org/officeDocument/2006/relationships/notesSlide" Target="/ppt/notesSlides/notesSlide2.xml" Id="R21cfd14021d44f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ed897bca124df5" /><Relationship Type="http://schemas.openxmlformats.org/officeDocument/2006/relationships/notesSlide" Target="/ppt/notesSlides/notesSlide3.xml" Id="R5c7e41d4955a4c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a4203491bf4aa3" /><Relationship Type="http://schemas.openxmlformats.org/officeDocument/2006/relationships/notesSlide" Target="/ppt/notesSlides/notesSlide4.xml" Id="R0264e6bfc85746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e43488f5474c81" /><Relationship Type="http://schemas.openxmlformats.org/officeDocument/2006/relationships/notesSlide" Target="/ppt/notesSlides/notesSlide5.xml" Id="R3dd46627201e4f8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72b7630b0948b7" /><Relationship Type="http://schemas.openxmlformats.org/officeDocument/2006/relationships/notesSlide" Target="/ppt/notesSlides/notesSlide6.xml" Id="R9394b8296f7149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70f9d7b3c34c81" /><Relationship Type="http://schemas.openxmlformats.org/officeDocument/2006/relationships/notesSlide" Target="/ppt/notesSlides/notesSlide7.xml" Id="Raa7fefde7f0149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d5211d97eb4622" /><Relationship Type="http://schemas.openxmlformats.org/officeDocument/2006/relationships/notesSlide" Target="/ppt/notesSlides/notesSlide8.xml" Id="Ra427bae515704c0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B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CFB4F-F838-491B-9626-230249D2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1066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>
                <a:solidFill>
                  <a:srgbClr val="FFFFFF"/>
                </a:solidFill>
              </a:defRPr>
            </a:defPPr>
            <a:lvl1pPr>
              <a:buNone/>
              <a:defRPr sz="3300">
                <a:solidFill>
                  <a:srgbClr val="FFFFFF"/>
                </a:solidFill>
              </a:defRPr>
            </a:lvl1pPr>
            <a:lvl2pPr>
              <a:buNone/>
              <a:defRPr sz="3300">
                <a:solidFill>
                  <a:srgbClr val="FFFFFF"/>
                </a:solidFill>
              </a:defRPr>
            </a:lvl2pPr>
            <a:lvl3pPr>
              <a:buNone/>
              <a:defRPr sz="3300">
                <a:solidFill>
                  <a:srgbClr val="FFFFFF"/>
                </a:solidFill>
              </a:defRPr>
            </a:lvl3pPr>
            <a:lvl4pPr>
              <a:buNone/>
              <a:defRPr sz="3300">
                <a:solidFill>
                  <a:srgbClr val="FFFFFF"/>
                </a:solidFill>
              </a:defRPr>
            </a:lvl4pPr>
            <a:lvl5pPr>
              <a:buNone/>
              <a:defRPr sz="3300">
                <a:solidFill>
                  <a:srgbClr val="FFFFFF"/>
                </a:solidFill>
              </a:defRPr>
            </a:lvl5pPr>
            <a:lvl6pPr>
              <a:buNone/>
              <a:defRPr sz="3300">
                <a:solidFill>
                  <a:srgbClr val="FFFFFF"/>
                </a:solidFill>
              </a:defRPr>
            </a:lvl6pPr>
            <a:lvl7pPr>
              <a:buNone/>
              <a:defRPr sz="3300">
                <a:solidFill>
                  <a:srgbClr val="FFFFFF"/>
                </a:solidFill>
              </a:defRPr>
            </a:lvl7pPr>
            <a:lvl8pPr>
              <a:buNone/>
              <a:defRPr sz="3300">
                <a:solidFill>
                  <a:srgbClr val="FFFFFF"/>
                </a:solidFill>
              </a:defRPr>
            </a:lvl8pPr>
            <a:lvl9pPr>
              <a:buNone/>
              <a:defRPr sz="330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buNone/>
              <a:defRPr sz="3300">
                <a:solidFill>
                  <a:srgbClr val="FFFFFF"/>
                </a:solidFill>
              </a:defRPr>
            </a:pPr>
            <a:r>
              <a:rPr sz="3300">
                <a:solidFill>
                  <a:srgbClr val="FFFFFF"/>
                </a:solidFill>
              </a:rPr>
              <a:t>Two agents. One permission boundary.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4504AC-227B-433E-A0AF-5D1DE206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>
                <a:solidFill>
                  <a:srgbClr val="75E2CE"/>
                </a:solidFill>
              </a:defRPr>
            </a:defPPr>
            <a:lvl1pPr>
              <a:buNone/>
              <a:defRPr sz="1725">
                <a:solidFill>
                  <a:srgbClr val="75E2CE"/>
                </a:solidFill>
              </a:defRPr>
            </a:lvl1pPr>
            <a:lvl2pPr>
              <a:buNone/>
              <a:defRPr sz="1725">
                <a:solidFill>
                  <a:srgbClr val="75E2CE"/>
                </a:solidFill>
              </a:defRPr>
            </a:lvl2pPr>
            <a:lvl3pPr>
              <a:buNone/>
              <a:defRPr sz="1725">
                <a:solidFill>
                  <a:srgbClr val="75E2CE"/>
                </a:solidFill>
              </a:defRPr>
            </a:lvl3pPr>
            <a:lvl4pPr>
              <a:buNone/>
              <a:defRPr sz="1725">
                <a:solidFill>
                  <a:srgbClr val="75E2CE"/>
                </a:solidFill>
              </a:defRPr>
            </a:lvl4pPr>
            <a:lvl5pPr>
              <a:buNone/>
              <a:defRPr sz="1725">
                <a:solidFill>
                  <a:srgbClr val="75E2CE"/>
                </a:solidFill>
              </a:defRPr>
            </a:lvl5pPr>
            <a:lvl6pPr>
              <a:buNone/>
              <a:defRPr sz="1725">
                <a:solidFill>
                  <a:srgbClr val="75E2CE"/>
                </a:solidFill>
              </a:defRPr>
            </a:lvl6pPr>
            <a:lvl7pPr>
              <a:buNone/>
              <a:defRPr sz="1725">
                <a:solidFill>
                  <a:srgbClr val="75E2CE"/>
                </a:solidFill>
              </a:defRPr>
            </a:lvl7pPr>
            <a:lvl8pPr>
              <a:buNone/>
              <a:defRPr sz="1725">
                <a:solidFill>
                  <a:srgbClr val="75E2CE"/>
                </a:solidFill>
              </a:defRPr>
            </a:lvl8pPr>
            <a:lvl9pPr>
              <a:buNone/>
              <a:defRPr sz="1725">
                <a:solidFill>
                  <a:srgbClr val="75E2CE"/>
                </a:solidFill>
              </a:defRPr>
            </a:lvl9pPr>
          </a:lstStyle>
          <a:p xmlns:a="http://schemas.openxmlformats.org/drawingml/2006/main">
            <a:pPr>
              <a:buNone/>
              <a:defRPr sz="1725">
                <a:solidFill>
                  <a:srgbClr val="75E2CE"/>
                </a:solidFill>
              </a:defRPr>
            </a:pPr>
            <a:r>
              <a:rPr sz="1725">
                <a:solidFill>
                  <a:srgbClr val="75E2CE"/>
                </a:solidFill>
              </a:rPr>
              <a:t>Challenge 4 | Official A2A SDK + LangGraph + OAuth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0D576-A45A-47FA-8D25-46DA6872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10668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D3E0F0"/>
                </a:solidFill>
              </a:defRPr>
            </a:defPPr>
            <a:lvl1pPr>
              <a:buNone/>
              <a:defRPr sz="2025">
                <a:solidFill>
                  <a:srgbClr val="D3E0F0"/>
                </a:solidFill>
              </a:defRPr>
            </a:lvl1pPr>
            <a:lvl2pPr>
              <a:buNone/>
              <a:defRPr sz="2025">
                <a:solidFill>
                  <a:srgbClr val="D3E0F0"/>
                </a:solidFill>
              </a:defRPr>
            </a:lvl2pPr>
            <a:lvl3pPr>
              <a:buNone/>
              <a:defRPr sz="2025">
                <a:solidFill>
                  <a:srgbClr val="D3E0F0"/>
                </a:solidFill>
              </a:defRPr>
            </a:lvl3pPr>
            <a:lvl4pPr>
              <a:buNone/>
              <a:defRPr sz="2025">
                <a:solidFill>
                  <a:srgbClr val="D3E0F0"/>
                </a:solidFill>
              </a:defRPr>
            </a:lvl4pPr>
            <a:lvl5pPr>
              <a:buNone/>
              <a:defRPr sz="2025">
                <a:solidFill>
                  <a:srgbClr val="D3E0F0"/>
                </a:solidFill>
              </a:defRPr>
            </a:lvl5pPr>
            <a:lvl6pPr>
              <a:buNone/>
              <a:defRPr sz="2025">
                <a:solidFill>
                  <a:srgbClr val="D3E0F0"/>
                </a:solidFill>
              </a:defRPr>
            </a:lvl6pPr>
            <a:lvl7pPr>
              <a:buNone/>
              <a:defRPr sz="2025">
                <a:solidFill>
                  <a:srgbClr val="D3E0F0"/>
                </a:solidFill>
              </a:defRPr>
            </a:lvl7pPr>
            <a:lvl8pPr>
              <a:buNone/>
              <a:defRPr sz="2025">
                <a:solidFill>
                  <a:srgbClr val="D3E0F0"/>
                </a:solidFill>
              </a:defRPr>
            </a:lvl8pPr>
            <a:lvl9pPr>
              <a:buNone/>
              <a:defRPr sz="2025">
                <a:solidFill>
                  <a:srgbClr val="D3E0F0"/>
                </a:solidFill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Two independent processes delegate over HTTP.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The airline verifies who approved each operation.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Working booking, cancellation and operator dashboards.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8D52D6-8B3F-4E2C-898C-ECD9B2AE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627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8DA3C0"/>
                </a:solidFill>
              </a:defRPr>
            </a:defPPr>
            <a:lvl1pPr>
              <a:defRPr sz="975">
                <a:solidFill>
                  <a:srgbClr val="8DA3C0"/>
                </a:solidFill>
              </a:defRPr>
            </a:lvl1pPr>
            <a:lvl2pPr>
              <a:defRPr sz="975">
                <a:solidFill>
                  <a:srgbClr val="8DA3C0"/>
                </a:solidFill>
              </a:defRPr>
            </a:lvl2pPr>
            <a:lvl3pPr>
              <a:defRPr sz="975">
                <a:solidFill>
                  <a:srgbClr val="8DA3C0"/>
                </a:solidFill>
              </a:defRPr>
            </a:lvl3pPr>
            <a:lvl4pPr>
              <a:defRPr sz="975">
                <a:solidFill>
                  <a:srgbClr val="8DA3C0"/>
                </a:solidFill>
              </a:defRPr>
            </a:lvl4pPr>
            <a:lvl5pPr>
              <a:defRPr sz="975">
                <a:solidFill>
                  <a:srgbClr val="8DA3C0"/>
                </a:solidFill>
              </a:defRPr>
            </a:lvl5pPr>
            <a:lvl6pPr>
              <a:defRPr sz="975">
                <a:solidFill>
                  <a:srgbClr val="8DA3C0"/>
                </a:solidFill>
              </a:defRPr>
            </a:lvl6pPr>
            <a:lvl7pPr>
              <a:defRPr sz="975">
                <a:solidFill>
                  <a:srgbClr val="8DA3C0"/>
                </a:solidFill>
              </a:defRPr>
            </a:lvl7pPr>
            <a:lvl8pPr>
              <a:defRPr sz="975">
                <a:solidFill>
                  <a:srgbClr val="8DA3C0"/>
                </a:solidFill>
              </a:defRPr>
            </a:lvl8pPr>
            <a:lvl9pPr>
              <a:defRPr sz="975">
                <a:solidFill>
                  <a:srgbClr val="8DA3C0"/>
                </a:solidFill>
              </a:defRPr>
            </a:lvl9pPr>
          </a:lstStyle>
          <a:p xmlns:a="http://schemas.openxmlformats.org/drawingml/2006/main">
            <a:pPr>
              <a:defRPr sz="975">
                <a:solidFill>
                  <a:srgbClr val="8DA3C0"/>
                </a:solidFill>
              </a:defRPr>
            </a:pPr>
            <a:r>
              <a:rPr sz="975">
                <a:solidFill>
                  <a:srgbClr val="8DA3C0"/>
                </a:solidFill>
              </a:rPr>
              <a:t>Implementation and verification: README.md | docs/architecture.md</a:t>
            </a:r>
          </a:p>
        </p:txBody>
      </p:sp>
    </p:spTree>
    <p:extLst>
      <p:ext uri="{BB962C8B-B14F-4D97-AF65-F5344CB8AC3E}">
        <p14:creationId xmlns:p14="http://schemas.microsoft.com/office/powerpoint/2010/main" val="729123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1B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3E7CEB-CF1C-44B3-B87E-38D3C14A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1066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>
                <a:solidFill>
                  <a:srgbClr val="FFFFFF"/>
                </a:solidFill>
              </a:defRPr>
            </a:defPPr>
            <a:lvl1pPr>
              <a:buNone/>
              <a:defRPr sz="3300">
                <a:solidFill>
                  <a:srgbClr val="FFFFFF"/>
                </a:solidFill>
              </a:defRPr>
            </a:lvl1pPr>
            <a:lvl2pPr>
              <a:buNone/>
              <a:defRPr sz="3300">
                <a:solidFill>
                  <a:srgbClr val="FFFFFF"/>
                </a:solidFill>
              </a:defRPr>
            </a:lvl2pPr>
            <a:lvl3pPr>
              <a:buNone/>
              <a:defRPr sz="3300">
                <a:solidFill>
                  <a:srgbClr val="FFFFFF"/>
                </a:solidFill>
              </a:defRPr>
            </a:lvl3pPr>
            <a:lvl4pPr>
              <a:buNone/>
              <a:defRPr sz="3300">
                <a:solidFill>
                  <a:srgbClr val="FFFFFF"/>
                </a:solidFill>
              </a:defRPr>
            </a:lvl4pPr>
            <a:lvl5pPr>
              <a:buNone/>
              <a:defRPr sz="3300">
                <a:solidFill>
                  <a:srgbClr val="FFFFFF"/>
                </a:solidFill>
              </a:defRPr>
            </a:lvl5pPr>
            <a:lvl6pPr>
              <a:buNone/>
              <a:defRPr sz="3300">
                <a:solidFill>
                  <a:srgbClr val="FFFFFF"/>
                </a:solidFill>
              </a:defRPr>
            </a:lvl6pPr>
            <a:lvl7pPr>
              <a:buNone/>
              <a:defRPr sz="3300">
                <a:solidFill>
                  <a:srgbClr val="FFFFFF"/>
                </a:solidFill>
              </a:defRPr>
            </a:lvl7pPr>
            <a:lvl8pPr>
              <a:buNone/>
              <a:defRPr sz="3300">
                <a:solidFill>
                  <a:srgbClr val="FFFFFF"/>
                </a:solidFill>
              </a:defRPr>
            </a:lvl8pPr>
            <a:lvl9pPr>
              <a:buNone/>
              <a:defRPr sz="330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buNone/>
              <a:defRPr sz="3300">
                <a:solidFill>
                  <a:srgbClr val="FFFFFF"/>
                </a:solidFill>
              </a:defRPr>
            </a:pPr>
            <a:r>
              <a:rPr sz="3300">
                <a:solidFill>
                  <a:srgbClr val="FFFFFF"/>
                </a:solidFill>
              </a:rPr>
              <a:t>Three owners, separate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B7912F-EBA9-4D8D-B5C2-C2FF36C2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>
                <a:solidFill>
                  <a:srgbClr val="75E2CE"/>
                </a:solidFill>
              </a:defRPr>
            </a:defPPr>
            <a:lvl1pPr>
              <a:buNone/>
              <a:defRPr sz="1725">
                <a:solidFill>
                  <a:srgbClr val="75E2CE"/>
                </a:solidFill>
              </a:defRPr>
            </a:lvl1pPr>
            <a:lvl2pPr>
              <a:buNone/>
              <a:defRPr sz="1725">
                <a:solidFill>
                  <a:srgbClr val="75E2CE"/>
                </a:solidFill>
              </a:defRPr>
            </a:lvl2pPr>
            <a:lvl3pPr>
              <a:buNone/>
              <a:defRPr sz="1725">
                <a:solidFill>
                  <a:srgbClr val="75E2CE"/>
                </a:solidFill>
              </a:defRPr>
            </a:lvl3pPr>
            <a:lvl4pPr>
              <a:buNone/>
              <a:defRPr sz="1725">
                <a:solidFill>
                  <a:srgbClr val="75E2CE"/>
                </a:solidFill>
              </a:defRPr>
            </a:lvl4pPr>
            <a:lvl5pPr>
              <a:buNone/>
              <a:defRPr sz="1725">
                <a:solidFill>
                  <a:srgbClr val="75E2CE"/>
                </a:solidFill>
              </a:defRPr>
            </a:lvl5pPr>
            <a:lvl6pPr>
              <a:buNone/>
              <a:defRPr sz="1725">
                <a:solidFill>
                  <a:srgbClr val="75E2CE"/>
                </a:solidFill>
              </a:defRPr>
            </a:lvl6pPr>
            <a:lvl7pPr>
              <a:buNone/>
              <a:defRPr sz="1725">
                <a:solidFill>
                  <a:srgbClr val="75E2CE"/>
                </a:solidFill>
              </a:defRPr>
            </a:lvl7pPr>
            <a:lvl8pPr>
              <a:buNone/>
              <a:defRPr sz="1725">
                <a:solidFill>
                  <a:srgbClr val="75E2CE"/>
                </a:solidFill>
              </a:defRPr>
            </a:lvl8pPr>
            <a:lvl9pPr>
              <a:buNone/>
              <a:defRPr sz="1725">
                <a:solidFill>
                  <a:srgbClr val="75E2CE"/>
                </a:solidFill>
              </a:defRPr>
            </a:lvl9pPr>
          </a:lstStyle>
          <a:p xmlns:a="http://schemas.openxmlformats.org/drawingml/2006/main">
            <a:pPr>
              <a:buNone/>
              <a:defRPr sz="1725">
                <a:solidFill>
                  <a:srgbClr val="75E2CE"/>
                </a:solidFill>
              </a:defRPr>
            </a:pPr>
            <a:r>
              <a:rPr sz="1725">
                <a:solidFill>
                  <a:srgbClr val="75E2CE"/>
                </a:solidFill>
              </a:rPr>
              <a:t>A proposes. The user approves. B confirms.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F08B51-5DE6-4BC4-B39F-3D3A803E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10668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D3E0F0"/>
                </a:solidFill>
              </a:defRPr>
            </a:defPPr>
            <a:lvl1pPr>
              <a:buNone/>
              <a:defRPr sz="2025">
                <a:solidFill>
                  <a:srgbClr val="D3E0F0"/>
                </a:solidFill>
              </a:defRPr>
            </a:lvl1pPr>
            <a:lvl2pPr>
              <a:buNone/>
              <a:defRPr sz="2025">
                <a:solidFill>
                  <a:srgbClr val="D3E0F0"/>
                </a:solidFill>
              </a:defRPr>
            </a:lvl2pPr>
            <a:lvl3pPr>
              <a:buNone/>
              <a:defRPr sz="2025">
                <a:solidFill>
                  <a:srgbClr val="D3E0F0"/>
                </a:solidFill>
              </a:defRPr>
            </a:lvl3pPr>
            <a:lvl4pPr>
              <a:buNone/>
              <a:defRPr sz="2025">
                <a:solidFill>
                  <a:srgbClr val="D3E0F0"/>
                </a:solidFill>
              </a:defRPr>
            </a:lvl4pPr>
            <a:lvl5pPr>
              <a:buNone/>
              <a:defRPr sz="2025">
                <a:solidFill>
                  <a:srgbClr val="D3E0F0"/>
                </a:solidFill>
              </a:defRPr>
            </a:lvl5pPr>
            <a:lvl6pPr>
              <a:buNone/>
              <a:defRPr sz="2025">
                <a:solidFill>
                  <a:srgbClr val="D3E0F0"/>
                </a:solidFill>
              </a:defRPr>
            </a:lvl6pPr>
            <a:lvl7pPr>
              <a:buNone/>
              <a:defRPr sz="2025">
                <a:solidFill>
                  <a:srgbClr val="D3E0F0"/>
                </a:solidFill>
              </a:defRPr>
            </a:lvl7pPr>
            <a:lvl8pPr>
              <a:buNone/>
              <a:defRPr sz="2025">
                <a:solidFill>
                  <a:srgbClr val="D3E0F0"/>
                </a:solidFill>
              </a:defRPr>
            </a:lvl8pPr>
            <a:lvl9pPr>
              <a:buNone/>
              <a:defRPr sz="2025">
                <a:solidFill>
                  <a:srgbClr val="D3E0F0"/>
                </a:solidFill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Agent A: conversation, discovery and delegation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Keycloak: user authentication, consent and token issuance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Agent B: permissions, inventory and booking transactions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Models propose tools; code enforces authorization.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E45A02-A78C-49AD-B72B-883172A20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627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8DA3C0"/>
                </a:solidFill>
              </a:defRPr>
            </a:defPPr>
            <a:lvl1pPr>
              <a:defRPr sz="975">
                <a:solidFill>
                  <a:srgbClr val="8DA3C0"/>
                </a:solidFill>
              </a:defRPr>
            </a:lvl1pPr>
            <a:lvl2pPr>
              <a:defRPr sz="975">
                <a:solidFill>
                  <a:srgbClr val="8DA3C0"/>
                </a:solidFill>
              </a:defRPr>
            </a:lvl2pPr>
            <a:lvl3pPr>
              <a:defRPr sz="975">
                <a:solidFill>
                  <a:srgbClr val="8DA3C0"/>
                </a:solidFill>
              </a:defRPr>
            </a:lvl3pPr>
            <a:lvl4pPr>
              <a:defRPr sz="975">
                <a:solidFill>
                  <a:srgbClr val="8DA3C0"/>
                </a:solidFill>
              </a:defRPr>
            </a:lvl4pPr>
            <a:lvl5pPr>
              <a:defRPr sz="975">
                <a:solidFill>
                  <a:srgbClr val="8DA3C0"/>
                </a:solidFill>
              </a:defRPr>
            </a:lvl5pPr>
            <a:lvl6pPr>
              <a:defRPr sz="975">
                <a:solidFill>
                  <a:srgbClr val="8DA3C0"/>
                </a:solidFill>
              </a:defRPr>
            </a:lvl6pPr>
            <a:lvl7pPr>
              <a:defRPr sz="975">
                <a:solidFill>
                  <a:srgbClr val="8DA3C0"/>
                </a:solidFill>
              </a:defRPr>
            </a:lvl7pPr>
            <a:lvl8pPr>
              <a:defRPr sz="975">
                <a:solidFill>
                  <a:srgbClr val="8DA3C0"/>
                </a:solidFill>
              </a:defRPr>
            </a:lvl8pPr>
            <a:lvl9pPr>
              <a:defRPr sz="975">
                <a:solidFill>
                  <a:srgbClr val="8DA3C0"/>
                </a:solidFill>
              </a:defRPr>
            </a:lvl9pPr>
          </a:lstStyle>
          <a:p xmlns:a="http://schemas.openxmlformats.org/drawingml/2006/main">
            <a:pPr>
              <a:defRPr sz="975">
                <a:solidFill>
                  <a:srgbClr val="8DA3C0"/>
                </a:solidFill>
              </a:defRPr>
            </a:pPr>
            <a:r>
              <a:rPr sz="975">
                <a:solidFill>
                  <a:srgbClr val="8DA3C0"/>
                </a:solidFill>
              </a:rPr>
              <a:t>Implementation and verification: README.md | docs/architecture.md</a:t>
            </a:r>
          </a:p>
        </p:txBody>
      </p:sp>
    </p:spTree>
    <p:extLst>
      <p:ext uri="{BB962C8B-B14F-4D97-AF65-F5344CB8AC3E}">
        <p14:creationId xmlns:p14="http://schemas.microsoft.com/office/powerpoint/2010/main" val="4795551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1B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BB8EF5-955A-4AB9-AF06-1FCD17B9B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1066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>
                <a:solidFill>
                  <a:srgbClr val="FFFFFF"/>
                </a:solidFill>
              </a:defRPr>
            </a:defPPr>
            <a:lvl1pPr>
              <a:buNone/>
              <a:defRPr sz="3300">
                <a:solidFill>
                  <a:srgbClr val="FFFFFF"/>
                </a:solidFill>
              </a:defRPr>
            </a:lvl1pPr>
            <a:lvl2pPr>
              <a:buNone/>
              <a:defRPr sz="3300">
                <a:solidFill>
                  <a:srgbClr val="FFFFFF"/>
                </a:solidFill>
              </a:defRPr>
            </a:lvl2pPr>
            <a:lvl3pPr>
              <a:buNone/>
              <a:defRPr sz="3300">
                <a:solidFill>
                  <a:srgbClr val="FFFFFF"/>
                </a:solidFill>
              </a:defRPr>
            </a:lvl3pPr>
            <a:lvl4pPr>
              <a:buNone/>
              <a:defRPr sz="3300">
                <a:solidFill>
                  <a:srgbClr val="FFFFFF"/>
                </a:solidFill>
              </a:defRPr>
            </a:lvl4pPr>
            <a:lvl5pPr>
              <a:buNone/>
              <a:defRPr sz="3300">
                <a:solidFill>
                  <a:srgbClr val="FFFFFF"/>
                </a:solidFill>
              </a:defRPr>
            </a:lvl5pPr>
            <a:lvl6pPr>
              <a:buNone/>
              <a:defRPr sz="3300">
                <a:solidFill>
                  <a:srgbClr val="FFFFFF"/>
                </a:solidFill>
              </a:defRPr>
            </a:lvl6pPr>
            <a:lvl7pPr>
              <a:buNone/>
              <a:defRPr sz="3300">
                <a:solidFill>
                  <a:srgbClr val="FFFFFF"/>
                </a:solidFill>
              </a:defRPr>
            </a:lvl7pPr>
            <a:lvl8pPr>
              <a:buNone/>
              <a:defRPr sz="3300">
                <a:solidFill>
                  <a:srgbClr val="FFFFFF"/>
                </a:solidFill>
              </a:defRPr>
            </a:lvl8pPr>
            <a:lvl9pPr>
              <a:buNone/>
              <a:defRPr sz="330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buNone/>
              <a:defRPr sz="3300">
                <a:solidFill>
                  <a:srgbClr val="FFFFFF"/>
                </a:solidFill>
              </a:defRPr>
            </a:pPr>
            <a:r>
              <a:rPr sz="3300">
                <a:solidFill>
                  <a:srgbClr val="FFFFFF"/>
                </a:solidFill>
              </a:rPr>
              <a:t>Why A2A v0.3.0?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59E867-5D92-4818-95D8-755117A4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>
                <a:solidFill>
                  <a:srgbClr val="75E2CE"/>
                </a:solidFill>
              </a:defRPr>
            </a:defPPr>
            <a:lvl1pPr>
              <a:buNone/>
              <a:defRPr sz="1725">
                <a:solidFill>
                  <a:srgbClr val="75E2CE"/>
                </a:solidFill>
              </a:defRPr>
            </a:lvl1pPr>
            <a:lvl2pPr>
              <a:buNone/>
              <a:defRPr sz="1725">
                <a:solidFill>
                  <a:srgbClr val="75E2CE"/>
                </a:solidFill>
              </a:defRPr>
            </a:lvl2pPr>
            <a:lvl3pPr>
              <a:buNone/>
              <a:defRPr sz="1725">
                <a:solidFill>
                  <a:srgbClr val="75E2CE"/>
                </a:solidFill>
              </a:defRPr>
            </a:lvl3pPr>
            <a:lvl4pPr>
              <a:buNone/>
              <a:defRPr sz="1725">
                <a:solidFill>
                  <a:srgbClr val="75E2CE"/>
                </a:solidFill>
              </a:defRPr>
            </a:lvl4pPr>
            <a:lvl5pPr>
              <a:buNone/>
              <a:defRPr sz="1725">
                <a:solidFill>
                  <a:srgbClr val="75E2CE"/>
                </a:solidFill>
              </a:defRPr>
            </a:lvl5pPr>
            <a:lvl6pPr>
              <a:buNone/>
              <a:defRPr sz="1725">
                <a:solidFill>
                  <a:srgbClr val="75E2CE"/>
                </a:solidFill>
              </a:defRPr>
            </a:lvl6pPr>
            <a:lvl7pPr>
              <a:buNone/>
              <a:defRPr sz="1725">
                <a:solidFill>
                  <a:srgbClr val="75E2CE"/>
                </a:solidFill>
              </a:defRPr>
            </a:lvl7pPr>
            <a:lvl8pPr>
              <a:buNone/>
              <a:defRPr sz="1725">
                <a:solidFill>
                  <a:srgbClr val="75E2CE"/>
                </a:solidFill>
              </a:defRPr>
            </a:lvl8pPr>
            <a:lvl9pPr>
              <a:buNone/>
              <a:defRPr sz="1725">
                <a:solidFill>
                  <a:srgbClr val="75E2CE"/>
                </a:solidFill>
              </a:defRPr>
            </a:lvl9pPr>
          </a:lstStyle>
          <a:p xmlns:a="http://schemas.openxmlformats.org/drawingml/2006/main">
            <a:pPr>
              <a:buNone/>
              <a:defRPr sz="1725">
                <a:solidFill>
                  <a:srgbClr val="75E2CE"/>
                </a:solidFill>
              </a:defRPr>
            </a:pPr>
            <a:r>
              <a:rPr sz="1725">
                <a:solidFill>
                  <a:srgbClr val="75E2CE"/>
                </a:solidFill>
              </a:rPr>
              <a:t>Official Python SDK 0.3.26 · JSON-RPC 2.0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70A557-4E58-4D5F-80CA-05D3EFBBB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10668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D3E0F0"/>
                </a:solidFill>
              </a:defRPr>
            </a:defPPr>
            <a:lvl1pPr>
              <a:buNone/>
              <a:defRPr sz="2025">
                <a:solidFill>
                  <a:srgbClr val="D3E0F0"/>
                </a:solidFill>
              </a:defRPr>
            </a:lvl1pPr>
            <a:lvl2pPr>
              <a:buNone/>
              <a:defRPr sz="2025">
                <a:solidFill>
                  <a:srgbClr val="D3E0F0"/>
                </a:solidFill>
              </a:defRPr>
            </a:lvl2pPr>
            <a:lvl3pPr>
              <a:buNone/>
              <a:defRPr sz="2025">
                <a:solidFill>
                  <a:srgbClr val="D3E0F0"/>
                </a:solidFill>
              </a:defRPr>
            </a:lvl3pPr>
            <a:lvl4pPr>
              <a:buNone/>
              <a:defRPr sz="2025">
                <a:solidFill>
                  <a:srgbClr val="D3E0F0"/>
                </a:solidFill>
              </a:defRPr>
            </a:lvl4pPr>
            <a:lvl5pPr>
              <a:buNone/>
              <a:defRPr sz="2025">
                <a:solidFill>
                  <a:srgbClr val="D3E0F0"/>
                </a:solidFill>
              </a:defRPr>
            </a:lvl5pPr>
            <a:lvl6pPr>
              <a:buNone/>
              <a:defRPr sz="2025">
                <a:solidFill>
                  <a:srgbClr val="D3E0F0"/>
                </a:solidFill>
              </a:defRPr>
            </a:lvl6pPr>
            <a:lvl7pPr>
              <a:buNone/>
              <a:defRPr sz="2025">
                <a:solidFill>
                  <a:srgbClr val="D3E0F0"/>
                </a:solidFill>
              </a:defRPr>
            </a:lvl7pPr>
            <a:lvl8pPr>
              <a:buNone/>
              <a:defRPr sz="2025">
                <a:solidFill>
                  <a:srgbClr val="D3E0F0"/>
                </a:solidFill>
              </a:defRPr>
            </a:lvl8pPr>
            <a:lvl9pPr>
              <a:buNone/>
              <a:defRPr sz="2025">
                <a:solidFill>
                  <a:srgbClr val="D3E0F0"/>
                </a:solidFill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Fits cross-company capability discovery and task delegation.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SDK client + server replace hand-written transport.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Typed messages, task IDs and result artifacts over HTTP.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Pinned 0.3 wire format avoids a separate version migration.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Synchronous demo; no independent certification claimed.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32D9BE-2D52-4B48-9DA1-9F00605D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627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8DA3C0"/>
                </a:solidFill>
              </a:defRPr>
            </a:defPPr>
            <a:lvl1pPr>
              <a:defRPr sz="975">
                <a:solidFill>
                  <a:srgbClr val="8DA3C0"/>
                </a:solidFill>
              </a:defRPr>
            </a:lvl1pPr>
            <a:lvl2pPr>
              <a:defRPr sz="975">
                <a:solidFill>
                  <a:srgbClr val="8DA3C0"/>
                </a:solidFill>
              </a:defRPr>
            </a:lvl2pPr>
            <a:lvl3pPr>
              <a:defRPr sz="975">
                <a:solidFill>
                  <a:srgbClr val="8DA3C0"/>
                </a:solidFill>
              </a:defRPr>
            </a:lvl3pPr>
            <a:lvl4pPr>
              <a:defRPr sz="975">
                <a:solidFill>
                  <a:srgbClr val="8DA3C0"/>
                </a:solidFill>
              </a:defRPr>
            </a:lvl4pPr>
            <a:lvl5pPr>
              <a:defRPr sz="975">
                <a:solidFill>
                  <a:srgbClr val="8DA3C0"/>
                </a:solidFill>
              </a:defRPr>
            </a:lvl5pPr>
            <a:lvl6pPr>
              <a:defRPr sz="975">
                <a:solidFill>
                  <a:srgbClr val="8DA3C0"/>
                </a:solidFill>
              </a:defRPr>
            </a:lvl6pPr>
            <a:lvl7pPr>
              <a:defRPr sz="975">
                <a:solidFill>
                  <a:srgbClr val="8DA3C0"/>
                </a:solidFill>
              </a:defRPr>
            </a:lvl7pPr>
            <a:lvl8pPr>
              <a:defRPr sz="975">
                <a:solidFill>
                  <a:srgbClr val="8DA3C0"/>
                </a:solidFill>
              </a:defRPr>
            </a:lvl8pPr>
            <a:lvl9pPr>
              <a:defRPr sz="975">
                <a:solidFill>
                  <a:srgbClr val="8DA3C0"/>
                </a:solidFill>
              </a:defRPr>
            </a:lvl9pPr>
          </a:lstStyle>
          <a:p xmlns:a="http://schemas.openxmlformats.org/drawingml/2006/main">
            <a:pPr>
              <a:defRPr sz="975">
                <a:solidFill>
                  <a:srgbClr val="8DA3C0"/>
                </a:solidFill>
              </a:defRPr>
            </a:pPr>
            <a:r>
              <a:rPr sz="975">
                <a:solidFill>
                  <a:srgbClr val="8DA3C0"/>
                </a:solidFill>
              </a:rPr>
              <a:t>Sources: github.com/a2aproject/a2a-python | a2a-protocol.org/v0.3.0/specification/</a:t>
            </a:r>
          </a:p>
        </p:txBody>
      </p:sp>
    </p:spTree>
    <p:extLst>
      <p:ext uri="{BB962C8B-B14F-4D97-AF65-F5344CB8AC3E}">
        <p14:creationId xmlns:p14="http://schemas.microsoft.com/office/powerpoint/2010/main" val="5865729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1B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CB9F62-4E46-41F3-A20C-B6F3FA6D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1066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>
                <a:solidFill>
                  <a:srgbClr val="FFFFFF"/>
                </a:solidFill>
              </a:defRPr>
            </a:defPPr>
            <a:lvl1pPr>
              <a:buNone/>
              <a:defRPr sz="3300">
                <a:solidFill>
                  <a:srgbClr val="FFFFFF"/>
                </a:solidFill>
              </a:defRPr>
            </a:lvl1pPr>
            <a:lvl2pPr>
              <a:buNone/>
              <a:defRPr sz="3300">
                <a:solidFill>
                  <a:srgbClr val="FFFFFF"/>
                </a:solidFill>
              </a:defRPr>
            </a:lvl2pPr>
            <a:lvl3pPr>
              <a:buNone/>
              <a:defRPr sz="3300">
                <a:solidFill>
                  <a:srgbClr val="FFFFFF"/>
                </a:solidFill>
              </a:defRPr>
            </a:lvl3pPr>
            <a:lvl4pPr>
              <a:buNone/>
              <a:defRPr sz="3300">
                <a:solidFill>
                  <a:srgbClr val="FFFFFF"/>
                </a:solidFill>
              </a:defRPr>
            </a:lvl4pPr>
            <a:lvl5pPr>
              <a:buNone/>
              <a:defRPr sz="3300">
                <a:solidFill>
                  <a:srgbClr val="FFFFFF"/>
                </a:solidFill>
              </a:defRPr>
            </a:lvl5pPr>
            <a:lvl6pPr>
              <a:buNone/>
              <a:defRPr sz="3300">
                <a:solidFill>
                  <a:srgbClr val="FFFFFF"/>
                </a:solidFill>
              </a:defRPr>
            </a:lvl6pPr>
            <a:lvl7pPr>
              <a:buNone/>
              <a:defRPr sz="3300">
                <a:solidFill>
                  <a:srgbClr val="FFFFFF"/>
                </a:solidFill>
              </a:defRPr>
            </a:lvl7pPr>
            <a:lvl8pPr>
              <a:buNone/>
              <a:defRPr sz="3300">
                <a:solidFill>
                  <a:srgbClr val="FFFFFF"/>
                </a:solidFill>
              </a:defRPr>
            </a:lvl8pPr>
            <a:lvl9pPr>
              <a:buNone/>
              <a:defRPr sz="330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buNone/>
              <a:defRPr sz="3300">
                <a:solidFill>
                  <a:srgbClr val="FFFFFF"/>
                </a:solidFill>
              </a:defRPr>
            </a:pPr>
            <a:r>
              <a:rPr sz="3300">
                <a:solidFill>
                  <a:srgbClr val="FFFFFF"/>
                </a:solidFill>
              </a:rPr>
              <a:t>Permission comes from the airline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A8747-B6F9-43EE-BEF7-1F295962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>
                <a:solidFill>
                  <a:srgbClr val="75E2CE"/>
                </a:solidFill>
              </a:defRPr>
            </a:defPPr>
            <a:lvl1pPr>
              <a:buNone/>
              <a:defRPr sz="1725">
                <a:solidFill>
                  <a:srgbClr val="75E2CE"/>
                </a:solidFill>
              </a:defRPr>
            </a:lvl1pPr>
            <a:lvl2pPr>
              <a:buNone/>
              <a:defRPr sz="1725">
                <a:solidFill>
                  <a:srgbClr val="75E2CE"/>
                </a:solidFill>
              </a:defRPr>
            </a:lvl2pPr>
            <a:lvl3pPr>
              <a:buNone/>
              <a:defRPr sz="1725">
                <a:solidFill>
                  <a:srgbClr val="75E2CE"/>
                </a:solidFill>
              </a:defRPr>
            </a:lvl3pPr>
            <a:lvl4pPr>
              <a:buNone/>
              <a:defRPr sz="1725">
                <a:solidFill>
                  <a:srgbClr val="75E2CE"/>
                </a:solidFill>
              </a:defRPr>
            </a:lvl4pPr>
            <a:lvl5pPr>
              <a:buNone/>
              <a:defRPr sz="1725">
                <a:solidFill>
                  <a:srgbClr val="75E2CE"/>
                </a:solidFill>
              </a:defRPr>
            </a:lvl5pPr>
            <a:lvl6pPr>
              <a:buNone/>
              <a:defRPr sz="1725">
                <a:solidFill>
                  <a:srgbClr val="75E2CE"/>
                </a:solidFill>
              </a:defRPr>
            </a:lvl6pPr>
            <a:lvl7pPr>
              <a:buNone/>
              <a:defRPr sz="1725">
                <a:solidFill>
                  <a:srgbClr val="75E2CE"/>
                </a:solidFill>
              </a:defRPr>
            </a:lvl7pPr>
            <a:lvl8pPr>
              <a:buNone/>
              <a:defRPr sz="1725">
                <a:solidFill>
                  <a:srgbClr val="75E2CE"/>
                </a:solidFill>
              </a:defRPr>
            </a:lvl8pPr>
            <a:lvl9pPr>
              <a:buNone/>
              <a:defRPr sz="1725">
                <a:solidFill>
                  <a:srgbClr val="75E2CE"/>
                </a:solidFill>
              </a:defRPr>
            </a:lvl9pPr>
          </a:lstStyle>
          <a:p xmlns:a="http://schemas.openxmlformats.org/drawingml/2006/main">
            <a:pPr>
              <a:buNone/>
              <a:defRPr sz="1725">
                <a:solidFill>
                  <a:srgbClr val="75E2CE"/>
                </a:solidFill>
              </a:defRPr>
            </a:pPr>
            <a:r>
              <a:rPr sz="1725">
                <a:solidFill>
                  <a:srgbClr val="75E2CE"/>
                </a:solidFill>
              </a:rPr>
              <a:t>Authorization Code + PKCE S256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D29561-DD30-4723-9C19-8ECEE501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10668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D3E0F0"/>
                </a:solidFill>
              </a:defRPr>
            </a:defPPr>
            <a:lvl1pPr>
              <a:buNone/>
              <a:defRPr sz="2025">
                <a:solidFill>
                  <a:srgbClr val="D3E0F0"/>
                </a:solidFill>
              </a:defRPr>
            </a:lvl1pPr>
            <a:lvl2pPr>
              <a:buNone/>
              <a:defRPr sz="2025">
                <a:solidFill>
                  <a:srgbClr val="D3E0F0"/>
                </a:solidFill>
              </a:defRPr>
            </a:lvl2pPr>
            <a:lvl3pPr>
              <a:buNone/>
              <a:defRPr sz="2025">
                <a:solidFill>
                  <a:srgbClr val="D3E0F0"/>
                </a:solidFill>
              </a:defRPr>
            </a:lvl3pPr>
            <a:lvl4pPr>
              <a:buNone/>
              <a:defRPr sz="2025">
                <a:solidFill>
                  <a:srgbClr val="D3E0F0"/>
                </a:solidFill>
              </a:defRPr>
            </a:lvl4pPr>
            <a:lvl5pPr>
              <a:buNone/>
              <a:defRPr sz="2025">
                <a:solidFill>
                  <a:srgbClr val="D3E0F0"/>
                </a:solidFill>
              </a:defRPr>
            </a:lvl5pPr>
            <a:lvl6pPr>
              <a:buNone/>
              <a:defRPr sz="2025">
                <a:solidFill>
                  <a:srgbClr val="D3E0F0"/>
                </a:solidFill>
              </a:defRPr>
            </a:lvl6pPr>
            <a:lvl7pPr>
              <a:buNone/>
              <a:defRPr sz="2025">
                <a:solidFill>
                  <a:srgbClr val="D3E0F0"/>
                </a:solidFill>
              </a:defRPr>
            </a:lvl7pPr>
            <a:lvl8pPr>
              <a:buNone/>
              <a:defRPr sz="2025">
                <a:solidFill>
                  <a:srgbClr val="D3E0F0"/>
                </a:solidFill>
              </a:defRPr>
            </a:lvl8pPr>
            <a:lvl9pPr>
              <a:buNone/>
              <a:defRPr sz="2025">
                <a:solidFill>
                  <a:srgbClr val="D3E0F0"/>
                </a:solidFill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Keycloak issues scoped, short-lived signed tokens.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B verifies signature, issuer, audience, expiry and client.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B derives booking owner from verified issuer + subject.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New scope requires consent before A sends the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061D8-DA38-4515-812E-FAD085DE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627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8DA3C0"/>
                </a:solidFill>
              </a:defRPr>
            </a:defPPr>
            <a:lvl1pPr>
              <a:defRPr sz="975">
                <a:solidFill>
                  <a:srgbClr val="8DA3C0"/>
                </a:solidFill>
              </a:defRPr>
            </a:lvl1pPr>
            <a:lvl2pPr>
              <a:defRPr sz="975">
                <a:solidFill>
                  <a:srgbClr val="8DA3C0"/>
                </a:solidFill>
              </a:defRPr>
            </a:lvl2pPr>
            <a:lvl3pPr>
              <a:defRPr sz="975">
                <a:solidFill>
                  <a:srgbClr val="8DA3C0"/>
                </a:solidFill>
              </a:defRPr>
            </a:lvl3pPr>
            <a:lvl4pPr>
              <a:defRPr sz="975">
                <a:solidFill>
                  <a:srgbClr val="8DA3C0"/>
                </a:solidFill>
              </a:defRPr>
            </a:lvl4pPr>
            <a:lvl5pPr>
              <a:defRPr sz="975">
                <a:solidFill>
                  <a:srgbClr val="8DA3C0"/>
                </a:solidFill>
              </a:defRPr>
            </a:lvl5pPr>
            <a:lvl6pPr>
              <a:defRPr sz="975">
                <a:solidFill>
                  <a:srgbClr val="8DA3C0"/>
                </a:solidFill>
              </a:defRPr>
            </a:lvl6pPr>
            <a:lvl7pPr>
              <a:defRPr sz="975">
                <a:solidFill>
                  <a:srgbClr val="8DA3C0"/>
                </a:solidFill>
              </a:defRPr>
            </a:lvl7pPr>
            <a:lvl8pPr>
              <a:defRPr sz="975">
                <a:solidFill>
                  <a:srgbClr val="8DA3C0"/>
                </a:solidFill>
              </a:defRPr>
            </a:lvl8pPr>
            <a:lvl9pPr>
              <a:defRPr sz="975">
                <a:solidFill>
                  <a:srgbClr val="8DA3C0"/>
                </a:solidFill>
              </a:defRPr>
            </a:lvl9pPr>
          </a:lstStyle>
          <a:p xmlns:a="http://schemas.openxmlformats.org/drawingml/2006/main">
            <a:pPr>
              <a:defRPr sz="975">
                <a:solidFill>
                  <a:srgbClr val="8DA3C0"/>
                </a:solidFill>
              </a:defRPr>
            </a:pPr>
            <a:r>
              <a:rPr sz="975">
                <a:solidFill>
                  <a:srgbClr val="8DA3C0"/>
                </a:solidFill>
              </a:rPr>
              <a:t>Implementation and verification: README.md | docs/architecture.md</a:t>
            </a:r>
          </a:p>
        </p:txBody>
      </p:sp>
    </p:spTree>
    <p:extLst>
      <p:ext uri="{BB962C8B-B14F-4D97-AF65-F5344CB8AC3E}">
        <p14:creationId xmlns:p14="http://schemas.microsoft.com/office/powerpoint/2010/main" val="21003237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1B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9D361C-C398-4951-9380-07B51097D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1066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>
                <a:solidFill>
                  <a:srgbClr val="FFFFFF"/>
                </a:solidFill>
              </a:defRPr>
            </a:defPPr>
            <a:lvl1pPr>
              <a:buNone/>
              <a:defRPr sz="3300">
                <a:solidFill>
                  <a:srgbClr val="FFFFFF"/>
                </a:solidFill>
              </a:defRPr>
            </a:lvl1pPr>
            <a:lvl2pPr>
              <a:buNone/>
              <a:defRPr sz="3300">
                <a:solidFill>
                  <a:srgbClr val="FFFFFF"/>
                </a:solidFill>
              </a:defRPr>
            </a:lvl2pPr>
            <a:lvl3pPr>
              <a:buNone/>
              <a:defRPr sz="3300">
                <a:solidFill>
                  <a:srgbClr val="FFFFFF"/>
                </a:solidFill>
              </a:defRPr>
            </a:lvl3pPr>
            <a:lvl4pPr>
              <a:buNone/>
              <a:defRPr sz="3300">
                <a:solidFill>
                  <a:srgbClr val="FFFFFF"/>
                </a:solidFill>
              </a:defRPr>
            </a:lvl4pPr>
            <a:lvl5pPr>
              <a:buNone/>
              <a:defRPr sz="3300">
                <a:solidFill>
                  <a:srgbClr val="FFFFFF"/>
                </a:solidFill>
              </a:defRPr>
            </a:lvl5pPr>
            <a:lvl6pPr>
              <a:buNone/>
              <a:defRPr sz="3300">
                <a:solidFill>
                  <a:srgbClr val="FFFFFF"/>
                </a:solidFill>
              </a:defRPr>
            </a:lvl6pPr>
            <a:lvl7pPr>
              <a:buNone/>
              <a:defRPr sz="3300">
                <a:solidFill>
                  <a:srgbClr val="FFFFFF"/>
                </a:solidFill>
              </a:defRPr>
            </a:lvl7pPr>
            <a:lvl8pPr>
              <a:buNone/>
              <a:defRPr sz="3300">
                <a:solidFill>
                  <a:srgbClr val="FFFFFF"/>
                </a:solidFill>
              </a:defRPr>
            </a:lvl8pPr>
            <a:lvl9pPr>
              <a:buNone/>
              <a:defRPr sz="330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buNone/>
              <a:defRPr sz="3300">
                <a:solidFill>
                  <a:srgbClr val="FFFFFF"/>
                </a:solidFill>
              </a:defRPr>
            </a:pPr>
            <a:r>
              <a:rPr sz="3300">
                <a:solidFill>
                  <a:srgbClr val="FFFFFF"/>
                </a:solidFill>
              </a:rPr>
              <a:t>Both agents choose native tools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30AE84-311C-4B8E-BAA2-C0B5125A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>
                <a:solidFill>
                  <a:srgbClr val="75E2CE"/>
                </a:solidFill>
              </a:defRPr>
            </a:defPPr>
            <a:lvl1pPr>
              <a:buNone/>
              <a:defRPr sz="1725">
                <a:solidFill>
                  <a:srgbClr val="75E2CE"/>
                </a:solidFill>
              </a:defRPr>
            </a:lvl1pPr>
            <a:lvl2pPr>
              <a:buNone/>
              <a:defRPr sz="1725">
                <a:solidFill>
                  <a:srgbClr val="75E2CE"/>
                </a:solidFill>
              </a:defRPr>
            </a:lvl2pPr>
            <a:lvl3pPr>
              <a:buNone/>
              <a:defRPr sz="1725">
                <a:solidFill>
                  <a:srgbClr val="75E2CE"/>
                </a:solidFill>
              </a:defRPr>
            </a:lvl3pPr>
            <a:lvl4pPr>
              <a:buNone/>
              <a:defRPr sz="1725">
                <a:solidFill>
                  <a:srgbClr val="75E2CE"/>
                </a:solidFill>
              </a:defRPr>
            </a:lvl4pPr>
            <a:lvl5pPr>
              <a:buNone/>
              <a:defRPr sz="1725">
                <a:solidFill>
                  <a:srgbClr val="75E2CE"/>
                </a:solidFill>
              </a:defRPr>
            </a:lvl5pPr>
            <a:lvl6pPr>
              <a:buNone/>
              <a:defRPr sz="1725">
                <a:solidFill>
                  <a:srgbClr val="75E2CE"/>
                </a:solidFill>
              </a:defRPr>
            </a:lvl6pPr>
            <a:lvl7pPr>
              <a:buNone/>
              <a:defRPr sz="1725">
                <a:solidFill>
                  <a:srgbClr val="75E2CE"/>
                </a:solidFill>
              </a:defRPr>
            </a:lvl7pPr>
            <a:lvl8pPr>
              <a:buNone/>
              <a:defRPr sz="1725">
                <a:solidFill>
                  <a:srgbClr val="75E2CE"/>
                </a:solidFill>
              </a:defRPr>
            </a:lvl8pPr>
            <a:lvl9pPr>
              <a:buNone/>
              <a:defRPr sz="1725">
                <a:solidFill>
                  <a:srgbClr val="75E2CE"/>
                </a:solidFill>
              </a:defRPr>
            </a:lvl9pPr>
          </a:lstStyle>
          <a:p xmlns:a="http://schemas.openxmlformats.org/drawingml/2006/main">
            <a:pPr>
              <a:buNone/>
              <a:defRPr sz="1725">
                <a:solidFill>
                  <a:srgbClr val="75E2CE"/>
                </a:solidFill>
              </a:defRPr>
            </a:pPr>
            <a:r>
              <a:rPr sz="1725">
                <a:solidFill>
                  <a:srgbClr val="75E2CE"/>
                </a:solidFill>
              </a:rPr>
              <a:t>LangGraph reason → tools → reason, bounded to five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26E845-0288-4EBE-9C04-56C195C7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10668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D3E0F0"/>
                </a:solidFill>
              </a:defRPr>
            </a:defPPr>
            <a:lvl1pPr>
              <a:buNone/>
              <a:defRPr sz="2025">
                <a:solidFill>
                  <a:srgbClr val="D3E0F0"/>
                </a:solidFill>
              </a:defRPr>
            </a:lvl1pPr>
            <a:lvl2pPr>
              <a:buNone/>
              <a:defRPr sz="2025">
                <a:solidFill>
                  <a:srgbClr val="D3E0F0"/>
                </a:solidFill>
              </a:defRPr>
            </a:lvl2pPr>
            <a:lvl3pPr>
              <a:buNone/>
              <a:defRPr sz="2025">
                <a:solidFill>
                  <a:srgbClr val="D3E0F0"/>
                </a:solidFill>
              </a:defRPr>
            </a:lvl3pPr>
            <a:lvl4pPr>
              <a:buNone/>
              <a:defRPr sz="2025">
                <a:solidFill>
                  <a:srgbClr val="D3E0F0"/>
                </a:solidFill>
              </a:defRPr>
            </a:lvl4pPr>
            <a:lvl5pPr>
              <a:buNone/>
              <a:defRPr sz="2025">
                <a:solidFill>
                  <a:srgbClr val="D3E0F0"/>
                </a:solidFill>
              </a:defRPr>
            </a:lvl5pPr>
            <a:lvl6pPr>
              <a:buNone/>
              <a:defRPr sz="2025">
                <a:solidFill>
                  <a:srgbClr val="D3E0F0"/>
                </a:solidFill>
              </a:defRPr>
            </a:lvl6pPr>
            <a:lvl7pPr>
              <a:buNone/>
              <a:defRPr sz="2025">
                <a:solidFill>
                  <a:srgbClr val="D3E0F0"/>
                </a:solidFill>
              </a:defRPr>
            </a:lvl7pPr>
            <a:lvl8pPr>
              <a:buNone/>
              <a:defRPr sz="2025">
                <a:solidFill>
                  <a:srgbClr val="D3E0F0"/>
                </a:solidFill>
              </a:defRPr>
            </a:lvl8pPr>
            <a:lvl9pPr>
              <a:buNone/>
              <a:defRPr sz="2025">
                <a:solidFill>
                  <a:srgbClr val="D3E0F0"/>
                </a:solidFill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A: discover / search / request booking / cancel by reference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B: inspect / search inventory / create / cancel reservation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A pauses for OAuth and explicit purchase approval.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B checks exact delegation arguments before mutation.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25 tests pass; live SDK booking/cancellation smoke passed.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EB0465-5A67-49D7-9FFA-4653340C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627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8DA3C0"/>
                </a:solidFill>
              </a:defRPr>
            </a:defPPr>
            <a:lvl1pPr>
              <a:defRPr sz="975">
                <a:solidFill>
                  <a:srgbClr val="8DA3C0"/>
                </a:solidFill>
              </a:defRPr>
            </a:lvl1pPr>
            <a:lvl2pPr>
              <a:defRPr sz="975">
                <a:solidFill>
                  <a:srgbClr val="8DA3C0"/>
                </a:solidFill>
              </a:defRPr>
            </a:lvl2pPr>
            <a:lvl3pPr>
              <a:defRPr sz="975">
                <a:solidFill>
                  <a:srgbClr val="8DA3C0"/>
                </a:solidFill>
              </a:defRPr>
            </a:lvl3pPr>
            <a:lvl4pPr>
              <a:defRPr sz="975">
                <a:solidFill>
                  <a:srgbClr val="8DA3C0"/>
                </a:solidFill>
              </a:defRPr>
            </a:lvl4pPr>
            <a:lvl5pPr>
              <a:defRPr sz="975">
                <a:solidFill>
                  <a:srgbClr val="8DA3C0"/>
                </a:solidFill>
              </a:defRPr>
            </a:lvl5pPr>
            <a:lvl6pPr>
              <a:defRPr sz="975">
                <a:solidFill>
                  <a:srgbClr val="8DA3C0"/>
                </a:solidFill>
              </a:defRPr>
            </a:lvl6pPr>
            <a:lvl7pPr>
              <a:defRPr sz="975">
                <a:solidFill>
                  <a:srgbClr val="8DA3C0"/>
                </a:solidFill>
              </a:defRPr>
            </a:lvl7pPr>
            <a:lvl8pPr>
              <a:defRPr sz="975">
                <a:solidFill>
                  <a:srgbClr val="8DA3C0"/>
                </a:solidFill>
              </a:defRPr>
            </a:lvl8pPr>
            <a:lvl9pPr>
              <a:defRPr sz="975">
                <a:solidFill>
                  <a:srgbClr val="8DA3C0"/>
                </a:solidFill>
              </a:defRPr>
            </a:lvl9pPr>
          </a:lstStyle>
          <a:p xmlns:a="http://schemas.openxmlformats.org/drawingml/2006/main">
            <a:pPr>
              <a:defRPr sz="975">
                <a:solidFill>
                  <a:srgbClr val="8DA3C0"/>
                </a:solidFill>
              </a:defRPr>
            </a:pPr>
            <a:r>
              <a:rPr sz="975">
                <a:solidFill>
                  <a:srgbClr val="8DA3C0"/>
                </a:solidFill>
              </a:rPr>
              <a:t>Implementation and verification: README.md | docs/architecture.md</a:t>
            </a:r>
          </a:p>
        </p:txBody>
      </p:sp>
    </p:spTree>
    <p:extLst>
      <p:ext uri="{BB962C8B-B14F-4D97-AF65-F5344CB8AC3E}">
        <p14:creationId xmlns:p14="http://schemas.microsoft.com/office/powerpoint/2010/main" val="15608366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1B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E88F1E-8882-4839-8D42-CE0FEB1C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1066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>
                <a:solidFill>
                  <a:srgbClr val="FFFFFF"/>
                </a:solidFill>
              </a:defRPr>
            </a:defPPr>
            <a:lvl1pPr>
              <a:buNone/>
              <a:defRPr sz="3300">
                <a:solidFill>
                  <a:srgbClr val="FFFFFF"/>
                </a:solidFill>
              </a:defRPr>
            </a:lvl1pPr>
            <a:lvl2pPr>
              <a:buNone/>
              <a:defRPr sz="3300">
                <a:solidFill>
                  <a:srgbClr val="FFFFFF"/>
                </a:solidFill>
              </a:defRPr>
            </a:lvl2pPr>
            <a:lvl3pPr>
              <a:buNone/>
              <a:defRPr sz="3300">
                <a:solidFill>
                  <a:srgbClr val="FFFFFF"/>
                </a:solidFill>
              </a:defRPr>
            </a:lvl3pPr>
            <a:lvl4pPr>
              <a:buNone/>
              <a:defRPr sz="3300">
                <a:solidFill>
                  <a:srgbClr val="FFFFFF"/>
                </a:solidFill>
              </a:defRPr>
            </a:lvl4pPr>
            <a:lvl5pPr>
              <a:buNone/>
              <a:defRPr sz="3300">
                <a:solidFill>
                  <a:srgbClr val="FFFFFF"/>
                </a:solidFill>
              </a:defRPr>
            </a:lvl5pPr>
            <a:lvl6pPr>
              <a:buNone/>
              <a:defRPr sz="3300">
                <a:solidFill>
                  <a:srgbClr val="FFFFFF"/>
                </a:solidFill>
              </a:defRPr>
            </a:lvl6pPr>
            <a:lvl7pPr>
              <a:buNone/>
              <a:defRPr sz="3300">
                <a:solidFill>
                  <a:srgbClr val="FFFFFF"/>
                </a:solidFill>
              </a:defRPr>
            </a:lvl7pPr>
            <a:lvl8pPr>
              <a:buNone/>
              <a:defRPr sz="3300">
                <a:solidFill>
                  <a:srgbClr val="FFFFFF"/>
                </a:solidFill>
              </a:defRPr>
            </a:lvl8pPr>
            <a:lvl9pPr>
              <a:buNone/>
              <a:defRPr sz="330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buNone/>
              <a:defRPr sz="3300">
                <a:solidFill>
                  <a:srgbClr val="FFFFFF"/>
                </a:solidFill>
              </a:defRPr>
            </a:pPr>
            <a:r>
              <a:rPr sz="3300">
                <a:solidFill>
                  <a:srgbClr val="FFFFFF"/>
                </a:solidFill>
              </a:rPr>
              <a:t>Show the boundary, end to 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B06E03-C51B-40F9-876F-8007589F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>
                <a:solidFill>
                  <a:srgbClr val="75E2CE"/>
                </a:solidFill>
              </a:defRPr>
            </a:defPPr>
            <a:lvl1pPr>
              <a:buNone/>
              <a:defRPr sz="1725">
                <a:solidFill>
                  <a:srgbClr val="75E2CE"/>
                </a:solidFill>
              </a:defRPr>
            </a:lvl1pPr>
            <a:lvl2pPr>
              <a:buNone/>
              <a:defRPr sz="1725">
                <a:solidFill>
                  <a:srgbClr val="75E2CE"/>
                </a:solidFill>
              </a:defRPr>
            </a:lvl2pPr>
            <a:lvl3pPr>
              <a:buNone/>
              <a:defRPr sz="1725">
                <a:solidFill>
                  <a:srgbClr val="75E2CE"/>
                </a:solidFill>
              </a:defRPr>
            </a:lvl3pPr>
            <a:lvl4pPr>
              <a:buNone/>
              <a:defRPr sz="1725">
                <a:solidFill>
                  <a:srgbClr val="75E2CE"/>
                </a:solidFill>
              </a:defRPr>
            </a:lvl4pPr>
            <a:lvl5pPr>
              <a:buNone/>
              <a:defRPr sz="1725">
                <a:solidFill>
                  <a:srgbClr val="75E2CE"/>
                </a:solidFill>
              </a:defRPr>
            </a:lvl5pPr>
            <a:lvl6pPr>
              <a:buNone/>
              <a:defRPr sz="1725">
                <a:solidFill>
                  <a:srgbClr val="75E2CE"/>
                </a:solidFill>
              </a:defRPr>
            </a:lvl6pPr>
            <a:lvl7pPr>
              <a:buNone/>
              <a:defRPr sz="1725">
                <a:solidFill>
                  <a:srgbClr val="75E2CE"/>
                </a:solidFill>
              </a:defRPr>
            </a:lvl7pPr>
            <a:lvl8pPr>
              <a:buNone/>
              <a:defRPr sz="1725">
                <a:solidFill>
                  <a:srgbClr val="75E2CE"/>
                </a:solidFill>
              </a:defRPr>
            </a:lvl8pPr>
            <a:lvl9pPr>
              <a:buNone/>
              <a:defRPr sz="1725">
                <a:solidFill>
                  <a:srgbClr val="75E2CE"/>
                </a:solidFill>
              </a:defRPr>
            </a:lvl9pPr>
          </a:lstStyle>
          <a:p xmlns:a="http://schemas.openxmlformats.org/drawingml/2006/main">
            <a:pPr>
              <a:buNone/>
              <a:defRPr sz="1725">
                <a:solidFill>
                  <a:srgbClr val="75E2CE"/>
                </a:solidFill>
              </a:defRPr>
            </a:pPr>
            <a:r>
              <a:rPr sz="1725">
                <a:solidFill>
                  <a:srgbClr val="75E2CE"/>
                </a:solidFill>
              </a:rPr>
              <a:t>BOM → DXB | AI233 | 19:00 | USD 240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1F4BDC-0AC8-4553-8BE0-F7C82E56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10668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>
                <a:solidFill>
                  <a:srgbClr val="D3E0F0"/>
                </a:solidFill>
              </a:defRPr>
            </a:defPPr>
            <a:lvl1pPr>
              <a:buNone/>
              <a:defRPr sz="2025">
                <a:solidFill>
                  <a:srgbClr val="D3E0F0"/>
                </a:solidFill>
              </a:defRPr>
            </a:lvl1pPr>
            <a:lvl2pPr>
              <a:buNone/>
              <a:defRPr sz="2025">
                <a:solidFill>
                  <a:srgbClr val="D3E0F0"/>
                </a:solidFill>
              </a:defRPr>
            </a:lvl2pPr>
            <a:lvl3pPr>
              <a:buNone/>
              <a:defRPr sz="2025">
                <a:solidFill>
                  <a:srgbClr val="D3E0F0"/>
                </a:solidFill>
              </a:defRPr>
            </a:lvl3pPr>
            <a:lvl4pPr>
              <a:buNone/>
              <a:defRPr sz="2025">
                <a:solidFill>
                  <a:srgbClr val="D3E0F0"/>
                </a:solidFill>
              </a:defRPr>
            </a:lvl4pPr>
            <a:lvl5pPr>
              <a:buNone/>
              <a:defRPr sz="2025">
                <a:solidFill>
                  <a:srgbClr val="D3E0F0"/>
                </a:solidFill>
              </a:defRPr>
            </a:lvl5pPr>
            <a:lvl6pPr>
              <a:buNone/>
              <a:defRPr sz="2025">
                <a:solidFill>
                  <a:srgbClr val="D3E0F0"/>
                </a:solidFill>
              </a:defRPr>
            </a:lvl6pPr>
            <a:lvl7pPr>
              <a:buNone/>
              <a:defRPr sz="2025">
                <a:solidFill>
                  <a:srgbClr val="D3E0F0"/>
                </a:solidFill>
              </a:defRPr>
            </a:lvl7pPr>
            <a:lvl8pPr>
              <a:buNone/>
              <a:defRPr sz="2025">
                <a:solidFill>
                  <a:srgbClr val="D3E0F0"/>
                </a:solidFill>
              </a:defRPr>
            </a:lvl8pPr>
            <a:lvl9pPr>
              <a:buNone/>
              <a:defRPr sz="2025">
                <a:solidFill>
                  <a:srgbClr val="D3E0F0"/>
                </a:solidFill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Search-only: grant search, return options, no booking.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Booking: grant book, approve purchase, B confirms.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Cancellation: fresh cancel consent, B checks ownership.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Dashboard shows authoritative status and event history.</a:t>
            </a:r>
          </a:p>
          <a:p xmlns:a="http://schemas.openxmlformats.org/drawingml/2006/main">
            <a:pPr>
              <a:buNone/>
              <a:defRPr sz="2025">
                <a:solidFill>
                  <a:srgbClr val="D3E0F0"/>
                </a:solidFill>
              </a:defRPr>
            </a:pPr>
            <a:r>
              <a:rPr sz="2025">
                <a:solidFill>
                  <a:srgbClr val="D3E0F0"/>
                </a:solidFill>
              </a:rPr>
              <a:t>Sessions reset on restart; synthetic flights; local HTTP.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7EC6F9-DF6A-4E0F-AF1E-5B4B585A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627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8DA3C0"/>
                </a:solidFill>
              </a:defRPr>
            </a:defPPr>
            <a:lvl1pPr>
              <a:defRPr sz="975">
                <a:solidFill>
                  <a:srgbClr val="8DA3C0"/>
                </a:solidFill>
              </a:defRPr>
            </a:lvl1pPr>
            <a:lvl2pPr>
              <a:defRPr sz="975">
                <a:solidFill>
                  <a:srgbClr val="8DA3C0"/>
                </a:solidFill>
              </a:defRPr>
            </a:lvl2pPr>
            <a:lvl3pPr>
              <a:defRPr sz="975">
                <a:solidFill>
                  <a:srgbClr val="8DA3C0"/>
                </a:solidFill>
              </a:defRPr>
            </a:lvl3pPr>
            <a:lvl4pPr>
              <a:defRPr sz="975">
                <a:solidFill>
                  <a:srgbClr val="8DA3C0"/>
                </a:solidFill>
              </a:defRPr>
            </a:lvl4pPr>
            <a:lvl5pPr>
              <a:defRPr sz="975">
                <a:solidFill>
                  <a:srgbClr val="8DA3C0"/>
                </a:solidFill>
              </a:defRPr>
            </a:lvl5pPr>
            <a:lvl6pPr>
              <a:defRPr sz="975">
                <a:solidFill>
                  <a:srgbClr val="8DA3C0"/>
                </a:solidFill>
              </a:defRPr>
            </a:lvl6pPr>
            <a:lvl7pPr>
              <a:defRPr sz="975">
                <a:solidFill>
                  <a:srgbClr val="8DA3C0"/>
                </a:solidFill>
              </a:defRPr>
            </a:lvl7pPr>
            <a:lvl8pPr>
              <a:defRPr sz="975">
                <a:solidFill>
                  <a:srgbClr val="8DA3C0"/>
                </a:solidFill>
              </a:defRPr>
            </a:lvl8pPr>
            <a:lvl9pPr>
              <a:defRPr sz="975">
                <a:solidFill>
                  <a:srgbClr val="8DA3C0"/>
                </a:solidFill>
              </a:defRPr>
            </a:lvl9pPr>
          </a:lstStyle>
          <a:p xmlns:a="http://schemas.openxmlformats.org/drawingml/2006/main">
            <a:pPr>
              <a:defRPr sz="975">
                <a:solidFill>
                  <a:srgbClr val="8DA3C0"/>
                </a:solidFill>
              </a:defRPr>
            </a:pPr>
            <a:r>
              <a:rPr sz="975">
                <a:solidFill>
                  <a:srgbClr val="8DA3C0"/>
                </a:solidFill>
              </a:rPr>
              <a:t>Implementation and verification: README.md | docs/architecture.md</a:t>
            </a:r>
          </a:p>
        </p:txBody>
      </p:sp>
    </p:spTree>
    <p:extLst>
      <p:ext uri="{BB962C8B-B14F-4D97-AF65-F5344CB8AC3E}">
        <p14:creationId xmlns:p14="http://schemas.microsoft.com/office/powerpoint/2010/main" val="2974531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1B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CB1F36-EC88-4A2B-AE8C-A83AC82D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1066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>
                <a:solidFill>
                  <a:srgbClr val="FFFFFF"/>
                </a:solidFill>
              </a:defRPr>
            </a:defPPr>
            <a:lvl1pPr>
              <a:buNone/>
              <a:defRPr sz="3300">
                <a:solidFill>
                  <a:srgbClr val="FFFFFF"/>
                </a:solidFill>
              </a:defRPr>
            </a:lvl1pPr>
            <a:lvl2pPr>
              <a:buNone/>
              <a:defRPr sz="3300">
                <a:solidFill>
                  <a:srgbClr val="FFFFFF"/>
                </a:solidFill>
              </a:defRPr>
            </a:lvl2pPr>
            <a:lvl3pPr>
              <a:buNone/>
              <a:defRPr sz="3300">
                <a:solidFill>
                  <a:srgbClr val="FFFFFF"/>
                </a:solidFill>
              </a:defRPr>
            </a:lvl3pPr>
            <a:lvl4pPr>
              <a:buNone/>
              <a:defRPr sz="3300">
                <a:solidFill>
                  <a:srgbClr val="FFFFFF"/>
                </a:solidFill>
              </a:defRPr>
            </a:lvl4pPr>
            <a:lvl5pPr>
              <a:buNone/>
              <a:defRPr sz="3300">
                <a:solidFill>
                  <a:srgbClr val="FFFFFF"/>
                </a:solidFill>
              </a:defRPr>
            </a:lvl5pPr>
            <a:lvl6pPr>
              <a:buNone/>
              <a:defRPr sz="3300">
                <a:solidFill>
                  <a:srgbClr val="FFFFFF"/>
                </a:solidFill>
              </a:defRPr>
            </a:lvl6pPr>
            <a:lvl7pPr>
              <a:buNone/>
              <a:defRPr sz="3300">
                <a:solidFill>
                  <a:srgbClr val="FFFFFF"/>
                </a:solidFill>
              </a:defRPr>
            </a:lvl7pPr>
            <a:lvl8pPr>
              <a:buNone/>
              <a:defRPr sz="3300">
                <a:solidFill>
                  <a:srgbClr val="FFFFFF"/>
                </a:solidFill>
              </a:defRPr>
            </a:lvl8pPr>
            <a:lvl9pPr>
              <a:buNone/>
              <a:defRPr sz="330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buNone/>
              <a:defRPr sz="3300">
                <a:solidFill>
                  <a:srgbClr val="FFFFFF"/>
                </a:solidFill>
              </a:defRPr>
            </a:pPr>
            <a:r>
              <a:rPr sz="3300">
                <a:solidFill>
                  <a:srgbClr val="FFFFFF"/>
                </a:solidFill>
              </a:rPr>
              <a:t>Measured classification choice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655F79-9F19-44C4-8331-986AD886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>
                <a:solidFill>
                  <a:srgbClr val="75E2CE"/>
                </a:solidFill>
              </a:defRPr>
            </a:defPPr>
            <a:lvl1pPr>
              <a:buNone/>
              <a:defRPr sz="1725">
                <a:solidFill>
                  <a:srgbClr val="75E2CE"/>
                </a:solidFill>
              </a:defRPr>
            </a:lvl1pPr>
            <a:lvl2pPr>
              <a:buNone/>
              <a:defRPr sz="1725">
                <a:solidFill>
                  <a:srgbClr val="75E2CE"/>
                </a:solidFill>
              </a:defRPr>
            </a:lvl2pPr>
            <a:lvl3pPr>
              <a:buNone/>
              <a:defRPr sz="1725">
                <a:solidFill>
                  <a:srgbClr val="75E2CE"/>
                </a:solidFill>
              </a:defRPr>
            </a:lvl3pPr>
            <a:lvl4pPr>
              <a:buNone/>
              <a:defRPr sz="1725">
                <a:solidFill>
                  <a:srgbClr val="75E2CE"/>
                </a:solidFill>
              </a:defRPr>
            </a:lvl4pPr>
            <a:lvl5pPr>
              <a:buNone/>
              <a:defRPr sz="1725">
                <a:solidFill>
                  <a:srgbClr val="75E2CE"/>
                </a:solidFill>
              </a:defRPr>
            </a:lvl5pPr>
            <a:lvl6pPr>
              <a:buNone/>
              <a:defRPr sz="1725">
                <a:solidFill>
                  <a:srgbClr val="75E2CE"/>
                </a:solidFill>
              </a:defRPr>
            </a:lvl6pPr>
            <a:lvl7pPr>
              <a:buNone/>
              <a:defRPr sz="1725">
                <a:solidFill>
                  <a:srgbClr val="75E2CE"/>
                </a:solidFill>
              </a:defRPr>
            </a:lvl7pPr>
            <a:lvl8pPr>
              <a:buNone/>
              <a:defRPr sz="1725">
                <a:solidFill>
                  <a:srgbClr val="75E2CE"/>
                </a:solidFill>
              </a:defRPr>
            </a:lvl8pPr>
            <a:lvl9pPr>
              <a:buNone/>
              <a:defRPr sz="1725">
                <a:solidFill>
                  <a:srgbClr val="75E2CE"/>
                </a:solidFill>
              </a:defRPr>
            </a:lvl9pPr>
          </a:lstStyle>
          <a:p xmlns:a="http://schemas.openxmlformats.org/drawingml/2006/main">
            <a:pPr>
              <a:buNone/>
              <a:defRPr sz="1725">
                <a:solidFill>
                  <a:srgbClr val="75E2CE"/>
                </a:solidFill>
              </a:defRPr>
            </a:pPr>
            <a:r>
              <a:rPr sz="1725">
                <a:solidFill>
                  <a:srgbClr val="75E2CE"/>
                </a:solidFill>
              </a:rPr>
              <a:t>8 synthetic cases/model · 30 Oct 2026 · one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22C531-9C2D-4A51-8D03-31231A35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D3E0F0"/>
                </a:solidFill>
              </a:defRPr>
            </a:defPPr>
            <a:lvl1pPr>
              <a:buNone/>
              <a:defRPr sz="2025">
                <a:solidFill>
                  <a:srgbClr val="D3E0F0"/>
                </a:solidFill>
              </a:defRPr>
            </a:lvl1pPr>
            <a:lvl2pPr>
              <a:buNone/>
              <a:defRPr sz="2025">
                <a:solidFill>
                  <a:srgbClr val="D3E0F0"/>
                </a:solidFill>
              </a:defRPr>
            </a:lvl2pPr>
            <a:lvl3pPr>
              <a:buNone/>
              <a:defRPr sz="2025">
                <a:solidFill>
                  <a:srgbClr val="D3E0F0"/>
                </a:solidFill>
              </a:defRPr>
            </a:lvl3pPr>
            <a:lvl4pPr>
              <a:buNone/>
              <a:defRPr sz="2025">
                <a:solidFill>
                  <a:srgbClr val="D3E0F0"/>
                </a:solidFill>
              </a:defRPr>
            </a:lvl4pPr>
            <a:lvl5pPr>
              <a:buNone/>
              <a:defRPr sz="2025">
                <a:solidFill>
                  <a:srgbClr val="D3E0F0"/>
                </a:solidFill>
              </a:defRPr>
            </a:lvl5pPr>
            <a:lvl6pPr>
              <a:buNone/>
              <a:defRPr sz="2025">
                <a:solidFill>
                  <a:srgbClr val="D3E0F0"/>
                </a:solidFill>
              </a:defRPr>
            </a:lvl6pPr>
            <a:lvl7pPr>
              <a:buNone/>
              <a:defRPr sz="2025">
                <a:solidFill>
                  <a:srgbClr val="D3E0F0"/>
                </a:solidFill>
              </a:defRPr>
            </a:lvl7pPr>
            <a:lvl8pPr>
              <a:buNone/>
              <a:defRPr sz="2025">
                <a:solidFill>
                  <a:srgbClr val="D3E0F0"/>
                </a:solidFill>
              </a:defRPr>
            </a:lvl8pPr>
            <a:lvl9pPr>
              <a:buNone/>
              <a:defRPr sz="2025">
                <a:solidFill>
                  <a:srgbClr val="D3E0F0"/>
                </a:solidFill>
              </a:defRPr>
            </a:lvl9pPr>
          </a:lstStyle>
          <a:p xmlns:a="http://schemas.openxmlformats.org/drawingml/2006/main">
            <a:pPr>
              <a:buNone/>
              <a:defRPr sz="1650">
                <a:solidFill>
                  <a:srgbClr val="D3E0F0"/>
                </a:solidFill>
              </a:defRPr>
            </a:pPr>
            <a:r>
              <a:rPr sz="1650">
                <a:solidFill>
                  <a:srgbClr val="D3E0F0"/>
                </a:solidFill>
              </a:rPr>
              <a:t>Choose Jev: matched Haiku accuracy at lower latency/cost.</a:t>
            </a:r>
          </a:p>
          <a:p xmlns:a="http://schemas.openxmlformats.org/drawingml/2006/main">
            <a:pPr>
              <a:buNone/>
              <a:defRPr sz="1650">
                <a:solidFill>
                  <a:srgbClr val="D3E0F0"/>
                </a:solidFill>
              </a:defRPr>
            </a:pPr>
            <a:r>
              <a:rPr sz="1650">
                <a:solidFill>
                  <a:srgbClr val="D3E0F0"/>
                </a:solidFill>
              </a:rPr>
              <a:t>*Gemini had one HTTP failure; cost covers 7 calls only.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7D8184-EE51-4BFD-BAE1-067069144B89}"/>
              </a:ext>
            </a:extLst>
          </p:cNvPr>
          <p:cNvGraphicFramePr/>
          <p:nvPr/>
        </p:nvGraphicFramePr>
        <p:xfrm>
          <a:off xmlns:a="http://schemas.openxmlformats.org/drawingml/2006/main" x="762000" y="3048000"/>
          <a:ext xmlns:a="http://schemas.openxmlformats.org/drawingml/2006/main" cx="10668000" cy="1905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1619250"/>
                <a:gridCol w="2190750"/>
                <a:gridCol w="3238500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75E2CE"/>
                          </a:solidFill>
                        </a:rPr>
                        <a:t>Model</a:t>
                      </a:r>
                    </a:p>
                  </a:txBody>
                  <a:tcPr marL="91440" marR="91440" marT="45720" marB="45720">
                    <a:solidFill>
                      <a:srgbClr val="1D30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75E2CE"/>
                          </a:solidFill>
                        </a:rPr>
                        <a:t>Correct</a:t>
                      </a:r>
                    </a:p>
                  </a:txBody>
                  <a:tcPr marL="91440" marR="91440" marT="45720" marB="45720">
                    <a:solidFill>
                      <a:srgbClr val="1D30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75E2CE"/>
                          </a:solidFill>
                        </a:rPr>
                        <a:t>Median</a:t>
                      </a:r>
                    </a:p>
                  </a:txBody>
                  <a:tcPr marL="91440" marR="91440" marT="45720" marB="45720">
                    <a:solidFill>
                      <a:srgbClr val="1D30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75E2CE"/>
                          </a:solidFill>
                        </a:rPr>
                        <a:t>Inference cost</a:t>
                      </a:r>
                    </a:p>
                  </a:txBody>
                  <a:tcPr marL="91440" marR="91440" marT="45720" marB="45720">
                    <a:solidFill>
                      <a:srgbClr val="1D3048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Jev 1.13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8/8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1.582 s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$0.00013314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Haiku 4.5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8/8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1.796 s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$0.00196000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Gemini Flash Lite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7/8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1.950 s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$0.00013290*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59E069-49E0-43A1-93C0-82F69300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627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8DA3C0"/>
                </a:solidFill>
              </a:defRPr>
            </a:defPPr>
            <a:lvl1pPr>
              <a:defRPr sz="975">
                <a:solidFill>
                  <a:srgbClr val="8DA3C0"/>
                </a:solidFill>
              </a:defRPr>
            </a:lvl1pPr>
            <a:lvl2pPr>
              <a:defRPr sz="975">
                <a:solidFill>
                  <a:srgbClr val="8DA3C0"/>
                </a:solidFill>
              </a:defRPr>
            </a:lvl2pPr>
            <a:lvl3pPr>
              <a:defRPr sz="975">
                <a:solidFill>
                  <a:srgbClr val="8DA3C0"/>
                </a:solidFill>
              </a:defRPr>
            </a:lvl3pPr>
            <a:lvl4pPr>
              <a:defRPr sz="975">
                <a:solidFill>
                  <a:srgbClr val="8DA3C0"/>
                </a:solidFill>
              </a:defRPr>
            </a:lvl4pPr>
            <a:lvl5pPr>
              <a:defRPr sz="975">
                <a:solidFill>
                  <a:srgbClr val="8DA3C0"/>
                </a:solidFill>
              </a:defRPr>
            </a:lvl5pPr>
            <a:lvl6pPr>
              <a:defRPr sz="975">
                <a:solidFill>
                  <a:srgbClr val="8DA3C0"/>
                </a:solidFill>
              </a:defRPr>
            </a:lvl6pPr>
            <a:lvl7pPr>
              <a:defRPr sz="975">
                <a:solidFill>
                  <a:srgbClr val="8DA3C0"/>
                </a:solidFill>
              </a:defRPr>
            </a:lvl7pPr>
            <a:lvl8pPr>
              <a:defRPr sz="975">
                <a:solidFill>
                  <a:srgbClr val="8DA3C0"/>
                </a:solidFill>
              </a:defRPr>
            </a:lvl8pPr>
            <a:lvl9pPr>
              <a:defRPr sz="975">
                <a:solidFill>
                  <a:srgbClr val="8DA3C0"/>
                </a:solidFill>
              </a:defRPr>
            </a:lvl9pPr>
          </a:lstStyle>
          <a:p xmlns:a="http://schemas.openxmlformats.org/drawingml/2006/main">
            <a:pPr>
              <a:defRPr sz="975">
                <a:solidFill>
                  <a:srgbClr val="8DA3C0"/>
                </a:solidFill>
              </a:defRPr>
            </a:pPr>
            <a:r>
              <a:rPr sz="975">
                <a:solidFill>
                  <a:srgbClr val="8DA3C0"/>
                </a:solidFill>
              </a:rPr>
              <a:t>Source: docs/model-comparison.md + raw JSON | one-pass fixtures; no statistical significance</a:t>
            </a:r>
          </a:p>
        </p:txBody>
      </p:sp>
    </p:spTree>
    <p:extLst>
      <p:ext uri="{BB962C8B-B14F-4D97-AF65-F5344CB8AC3E}">
        <p14:creationId xmlns:p14="http://schemas.microsoft.com/office/powerpoint/2010/main" val="8091939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1B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41A515-0B64-468F-8EC8-803E257F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1066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>
                <a:solidFill>
                  <a:srgbClr val="FFFFFF"/>
                </a:solidFill>
              </a:defRPr>
            </a:defPPr>
            <a:lvl1pPr>
              <a:buNone/>
              <a:defRPr sz="3300">
                <a:solidFill>
                  <a:srgbClr val="FFFFFF"/>
                </a:solidFill>
              </a:defRPr>
            </a:lvl1pPr>
            <a:lvl2pPr>
              <a:buNone/>
              <a:defRPr sz="3300">
                <a:solidFill>
                  <a:srgbClr val="FFFFFF"/>
                </a:solidFill>
              </a:defRPr>
            </a:lvl2pPr>
            <a:lvl3pPr>
              <a:buNone/>
              <a:defRPr sz="3300">
                <a:solidFill>
                  <a:srgbClr val="FFFFFF"/>
                </a:solidFill>
              </a:defRPr>
            </a:lvl3pPr>
            <a:lvl4pPr>
              <a:buNone/>
              <a:defRPr sz="3300">
                <a:solidFill>
                  <a:srgbClr val="FFFFFF"/>
                </a:solidFill>
              </a:defRPr>
            </a:lvl4pPr>
            <a:lvl5pPr>
              <a:buNone/>
              <a:defRPr sz="3300">
                <a:solidFill>
                  <a:srgbClr val="FFFFFF"/>
                </a:solidFill>
              </a:defRPr>
            </a:lvl5pPr>
            <a:lvl6pPr>
              <a:buNone/>
              <a:defRPr sz="3300">
                <a:solidFill>
                  <a:srgbClr val="FFFFFF"/>
                </a:solidFill>
              </a:defRPr>
            </a:lvl6pPr>
            <a:lvl7pPr>
              <a:buNone/>
              <a:defRPr sz="3300">
                <a:solidFill>
                  <a:srgbClr val="FFFFFF"/>
                </a:solidFill>
              </a:defRPr>
            </a:lvl7pPr>
            <a:lvl8pPr>
              <a:buNone/>
              <a:defRPr sz="3300">
                <a:solidFill>
                  <a:srgbClr val="FFFFFF"/>
                </a:solidFill>
              </a:defRPr>
            </a:lvl8pPr>
            <a:lvl9pPr>
              <a:buNone/>
              <a:defRPr sz="330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buNone/>
              <a:defRPr sz="3300">
                <a:solidFill>
                  <a:srgbClr val="FFFFFF"/>
                </a:solidFill>
              </a:defRPr>
            </a:pPr>
            <a:r>
              <a:rPr sz="3300">
                <a:solidFill>
                  <a:srgbClr val="FFFFFF"/>
                </a:solidFill>
              </a:rPr>
              <a:t>Measured tool-selection choice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1FDC55-40D2-4A64-AD8F-792CE9C0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>
                <a:solidFill>
                  <a:srgbClr val="75E2CE"/>
                </a:solidFill>
              </a:defRPr>
            </a:defPPr>
            <a:lvl1pPr>
              <a:buNone/>
              <a:defRPr sz="1725">
                <a:solidFill>
                  <a:srgbClr val="75E2CE"/>
                </a:solidFill>
              </a:defRPr>
            </a:lvl1pPr>
            <a:lvl2pPr>
              <a:buNone/>
              <a:defRPr sz="1725">
                <a:solidFill>
                  <a:srgbClr val="75E2CE"/>
                </a:solidFill>
              </a:defRPr>
            </a:lvl2pPr>
            <a:lvl3pPr>
              <a:buNone/>
              <a:defRPr sz="1725">
                <a:solidFill>
                  <a:srgbClr val="75E2CE"/>
                </a:solidFill>
              </a:defRPr>
            </a:lvl3pPr>
            <a:lvl4pPr>
              <a:buNone/>
              <a:defRPr sz="1725">
                <a:solidFill>
                  <a:srgbClr val="75E2CE"/>
                </a:solidFill>
              </a:defRPr>
            </a:lvl4pPr>
            <a:lvl5pPr>
              <a:buNone/>
              <a:defRPr sz="1725">
                <a:solidFill>
                  <a:srgbClr val="75E2CE"/>
                </a:solidFill>
              </a:defRPr>
            </a:lvl5pPr>
            <a:lvl6pPr>
              <a:buNone/>
              <a:defRPr sz="1725">
                <a:solidFill>
                  <a:srgbClr val="75E2CE"/>
                </a:solidFill>
              </a:defRPr>
            </a:lvl6pPr>
            <a:lvl7pPr>
              <a:buNone/>
              <a:defRPr sz="1725">
                <a:solidFill>
                  <a:srgbClr val="75E2CE"/>
                </a:solidFill>
              </a:defRPr>
            </a:lvl7pPr>
            <a:lvl8pPr>
              <a:buNone/>
              <a:defRPr sz="1725">
                <a:solidFill>
                  <a:srgbClr val="75E2CE"/>
                </a:solidFill>
              </a:defRPr>
            </a:lvl8pPr>
            <a:lvl9pPr>
              <a:buNone/>
              <a:defRPr sz="1725">
                <a:solidFill>
                  <a:srgbClr val="75E2CE"/>
                </a:solidFill>
              </a:defRPr>
            </a:lvl9pPr>
          </a:lstStyle>
          <a:p xmlns:a="http://schemas.openxmlformats.org/drawingml/2006/main">
            <a:pPr>
              <a:buNone/>
              <a:defRPr sz="1725">
                <a:solidFill>
                  <a:srgbClr val="75E2CE"/>
                </a:solidFill>
              </a:defRPr>
            </a:pPr>
            <a:r>
              <a:rPr sz="1725">
                <a:solidFill>
                  <a:srgbClr val="75E2CE"/>
                </a:solidFill>
              </a:rPr>
              <a:t>Exact tool + arguments; no tools executed in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82EA99-0C62-4F51-8DDF-BDEAD819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D3E0F0"/>
                </a:solidFill>
              </a:defRPr>
            </a:defPPr>
            <a:lvl1pPr>
              <a:buNone/>
              <a:defRPr sz="2025">
                <a:solidFill>
                  <a:srgbClr val="D3E0F0"/>
                </a:solidFill>
              </a:defRPr>
            </a:lvl1pPr>
            <a:lvl2pPr>
              <a:buNone/>
              <a:defRPr sz="2025">
                <a:solidFill>
                  <a:srgbClr val="D3E0F0"/>
                </a:solidFill>
              </a:defRPr>
            </a:lvl2pPr>
            <a:lvl3pPr>
              <a:buNone/>
              <a:defRPr sz="2025">
                <a:solidFill>
                  <a:srgbClr val="D3E0F0"/>
                </a:solidFill>
              </a:defRPr>
            </a:lvl3pPr>
            <a:lvl4pPr>
              <a:buNone/>
              <a:defRPr sz="2025">
                <a:solidFill>
                  <a:srgbClr val="D3E0F0"/>
                </a:solidFill>
              </a:defRPr>
            </a:lvl4pPr>
            <a:lvl5pPr>
              <a:buNone/>
              <a:defRPr sz="2025">
                <a:solidFill>
                  <a:srgbClr val="D3E0F0"/>
                </a:solidFill>
              </a:defRPr>
            </a:lvl5pPr>
            <a:lvl6pPr>
              <a:buNone/>
              <a:defRPr sz="2025">
                <a:solidFill>
                  <a:srgbClr val="D3E0F0"/>
                </a:solidFill>
              </a:defRPr>
            </a:lvl6pPr>
            <a:lvl7pPr>
              <a:buNone/>
              <a:defRPr sz="2025">
                <a:solidFill>
                  <a:srgbClr val="D3E0F0"/>
                </a:solidFill>
              </a:defRPr>
            </a:lvl7pPr>
            <a:lvl8pPr>
              <a:buNone/>
              <a:defRPr sz="2025">
                <a:solidFill>
                  <a:srgbClr val="D3E0F0"/>
                </a:solidFill>
              </a:defRPr>
            </a:lvl8pPr>
            <a:lvl9pPr>
              <a:buNone/>
              <a:defRPr sz="2025">
                <a:solidFill>
                  <a:srgbClr val="D3E0F0"/>
                </a:solidFill>
              </a:defRPr>
            </a:lvl9pPr>
          </a:lstStyle>
          <a:p xmlns:a="http://schemas.openxmlformats.org/drawingml/2006/main">
            <a:pPr>
              <a:buNone/>
              <a:defRPr sz="1650">
                <a:solidFill>
                  <a:srgbClr val="D3E0F0"/>
                </a:solidFill>
              </a:defRPr>
            </a:pPr>
            <a:r>
              <a:rPr sz="1650">
                <a:solidFill>
                  <a:srgbClr val="D3E0F0"/>
                </a:solidFill>
              </a:rPr>
              <a:t>Keep Haiku for correctness; Gemini is the cheaper fallback.</a:t>
            </a:r>
          </a:p>
          <a:p xmlns:a="http://schemas.openxmlformats.org/drawingml/2006/main">
            <a:pPr>
              <a:buNone/>
              <a:defRPr sz="1650">
                <a:solidFill>
                  <a:srgbClr val="D3E0F0"/>
                </a:solidFill>
              </a:defRPr>
            </a:pPr>
            <a:r>
              <a:rPr sz="1650">
                <a:solidFill>
                  <a:srgbClr val="D3E0F0"/>
                </a:solidFill>
              </a:rPr>
              <a:t>BYOK upstream cost included. Small sample; no fluency or full-loop test.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7E97F0-44E2-465E-A2C9-819B2769691D}"/>
              </a:ext>
            </a:extLst>
          </p:cNvPr>
          <p:cNvGraphicFramePr/>
          <p:nvPr/>
        </p:nvGraphicFramePr>
        <p:xfrm>
          <a:off xmlns:a="http://schemas.openxmlformats.org/drawingml/2006/main" x="762000" y="3048000"/>
          <a:ext xmlns:a="http://schemas.openxmlformats.org/drawingml/2006/main" cx="10668000" cy="1905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1619250"/>
                <a:gridCol w="2190750"/>
                <a:gridCol w="3238500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75E2CE"/>
                          </a:solidFill>
                        </a:rPr>
                        <a:t>Model</a:t>
                      </a:r>
                    </a:p>
                  </a:txBody>
                  <a:tcPr marL="91440" marR="91440" marT="45720" marB="45720">
                    <a:solidFill>
                      <a:srgbClr val="1D30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75E2CE"/>
                          </a:solidFill>
                        </a:rPr>
                        <a:t>Correct</a:t>
                      </a:r>
                    </a:p>
                  </a:txBody>
                  <a:tcPr marL="91440" marR="91440" marT="45720" marB="45720">
                    <a:solidFill>
                      <a:srgbClr val="1D30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75E2CE"/>
                          </a:solidFill>
                        </a:rPr>
                        <a:t>Median</a:t>
                      </a:r>
                    </a:p>
                  </a:txBody>
                  <a:tcPr marL="91440" marR="91440" marT="45720" marB="45720">
                    <a:solidFill>
                      <a:srgbClr val="1D30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75E2CE"/>
                          </a:solidFill>
                        </a:rPr>
                        <a:t>Cost / 8 calls</a:t>
                      </a:r>
                    </a:p>
                  </a:txBody>
                  <a:tcPr marL="91440" marR="91440" marT="45720" marB="45720">
                    <a:solidFill>
                      <a:srgbClr val="1D3048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Haiku 4.5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8/8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2.240 s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$0.00970500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Gemini Flash Lite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7/8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1.493 s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$0.00033360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Qwen 30B A3B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6/8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4.349 s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D3E0F0"/>
                          </a:solidFill>
                        </a:rPr>
                        <a:t>$0.00043569</a:t>
                      </a:r>
                    </a:p>
                  </a:txBody>
                  <a:tcPr marL="91440" marR="91440" marT="45720" marB="45720">
                    <a:solidFill>
                      <a:srgbClr val="101B2D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1B8194-6F85-4D84-AA3C-3C43F8CA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627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8DA3C0"/>
                </a:solidFill>
              </a:defRPr>
            </a:defPPr>
            <a:lvl1pPr>
              <a:defRPr sz="975">
                <a:solidFill>
                  <a:srgbClr val="8DA3C0"/>
                </a:solidFill>
              </a:defRPr>
            </a:lvl1pPr>
            <a:lvl2pPr>
              <a:defRPr sz="975">
                <a:solidFill>
                  <a:srgbClr val="8DA3C0"/>
                </a:solidFill>
              </a:defRPr>
            </a:lvl2pPr>
            <a:lvl3pPr>
              <a:defRPr sz="975">
                <a:solidFill>
                  <a:srgbClr val="8DA3C0"/>
                </a:solidFill>
              </a:defRPr>
            </a:lvl3pPr>
            <a:lvl4pPr>
              <a:defRPr sz="975">
                <a:solidFill>
                  <a:srgbClr val="8DA3C0"/>
                </a:solidFill>
              </a:defRPr>
            </a:lvl4pPr>
            <a:lvl5pPr>
              <a:defRPr sz="975">
                <a:solidFill>
                  <a:srgbClr val="8DA3C0"/>
                </a:solidFill>
              </a:defRPr>
            </a:lvl5pPr>
            <a:lvl6pPr>
              <a:defRPr sz="975">
                <a:solidFill>
                  <a:srgbClr val="8DA3C0"/>
                </a:solidFill>
              </a:defRPr>
            </a:lvl6pPr>
            <a:lvl7pPr>
              <a:defRPr sz="975">
                <a:solidFill>
                  <a:srgbClr val="8DA3C0"/>
                </a:solidFill>
              </a:defRPr>
            </a:lvl7pPr>
            <a:lvl8pPr>
              <a:defRPr sz="975">
                <a:solidFill>
                  <a:srgbClr val="8DA3C0"/>
                </a:solidFill>
              </a:defRPr>
            </a:lvl8pPr>
            <a:lvl9pPr>
              <a:defRPr sz="975">
                <a:solidFill>
                  <a:srgbClr val="8DA3C0"/>
                </a:solidFill>
              </a:defRPr>
            </a:lvl9pPr>
          </a:lstStyle>
          <a:p xmlns:a="http://schemas.openxmlformats.org/drawingml/2006/main">
            <a:pPr>
              <a:defRPr sz="975">
                <a:solidFill>
                  <a:srgbClr val="8DA3C0"/>
                </a:solidFill>
              </a:defRPr>
            </a:pPr>
            <a:r>
              <a:rPr sz="975">
                <a:solidFill>
                  <a:srgbClr val="8DA3C0"/>
                </a:solidFill>
              </a:rPr>
              <a:t>Source: docs/model-comparison.md + raw JSON | one-pass fixtures; no statistical significance</a:t>
            </a:r>
          </a:p>
        </p:txBody>
      </p:sp>
    </p:spTree>
    <p:extLst>
      <p:ext uri="{BB962C8B-B14F-4D97-AF65-F5344CB8AC3E}">
        <p14:creationId xmlns:p14="http://schemas.microsoft.com/office/powerpoint/2010/main" val="15264632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2026-10-30T10:43:18.4290000Z</dcterms:created>
  <dcterms:modified xsi:type="dcterms:W3CDTF">2026-10-30T10:43:18.4290000Z</dcterms:modified>
</coreProperties>
</file>